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4"/>
  </p:sldMasterIdLst>
  <p:sldIdLst>
    <p:sldId id="256" r:id="rId5"/>
    <p:sldId id="272" r:id="rId6"/>
    <p:sldId id="271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5"/>
    <p:sldId id="264" r:id="rId16"/>
    <p:sldId id="266" r:id="rId17"/>
    <p:sldId id="267" r:id="rId18"/>
    <p:sldId id="268" r:id="rId19"/>
    <p:sldId id="269" r:id="rId20"/>
    <p:sldId id="270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BB8F68-5F38-6D04-A0F7-BF5D1D2EE89E}" v="1574" dt="2024-11-23T00:06:41.292"/>
    <p1510:client id="{B770B20C-6323-44E8-AFCF-9EB299ABA2E5}" v="923" dt="2024-11-23T21:13:08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1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1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03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44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4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2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6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86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20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4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57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07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00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351CED-465B-40B5-ADCE-957C918F227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9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arcrawlbarcelona.com/must-try-drinks-while-in-barcelona/" TargetMode="External"/><Relationship Id="rId13" Type="http://schemas.openxmlformats.org/officeDocument/2006/relationships/hyperlink" Target="https://ticketshop.barcelona/magic-fountain.html" TargetMode="External"/><Relationship Id="rId3" Type="http://schemas.openxmlformats.org/officeDocument/2006/relationships/hyperlink" Target="https://en.wikipedia.org/wiki/Barcelona" TargetMode="External"/><Relationship Id="rId7" Type="http://schemas.openxmlformats.org/officeDocument/2006/relationships/hyperlink" Target="https://www.getyourguide.com/explorer/barcelona-ttd45/food-in-barcelona/" TargetMode="External"/><Relationship Id="rId12" Type="http://schemas.openxmlformats.org/officeDocument/2006/relationships/hyperlink" Target="https://en.wikipedia.org/wiki/Saint_George%27s_Day_(Spain)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amp_Nou" TargetMode="External"/><Relationship Id="rId11" Type="http://schemas.openxmlformats.org/officeDocument/2006/relationships/hyperlink" Target="https://en.wikipedia.org/wiki/La_Merc%C3%A8" TargetMode="External"/><Relationship Id="rId5" Type="http://schemas.openxmlformats.org/officeDocument/2006/relationships/hyperlink" Target="https://en.wikipedia.org/wiki/La_Barceloneta,_Barcelona" TargetMode="External"/><Relationship Id="rId15" Type="http://schemas.openxmlformats.org/officeDocument/2006/relationships/hyperlink" Target="https://ticketshop.barcelona/boqueria-market.html" TargetMode="External"/><Relationship Id="rId10" Type="http://schemas.openxmlformats.org/officeDocument/2006/relationships/hyperlink" Target="https://en.wikipedia.org/wiki/Barcelona_Beach_Festival" TargetMode="External"/><Relationship Id="rId4" Type="http://schemas.openxmlformats.org/officeDocument/2006/relationships/hyperlink" Target="https://en.wikipedia.org/wiki/Sagrada_Familia" TargetMode="External"/><Relationship Id="rId9" Type="http://schemas.openxmlformats.org/officeDocument/2006/relationships/hyperlink" Target="https://www.celebritycruises.com/blog/barcelona-food#:~:text=Escalivada,-Escalivada&amp;text=A%20simple%20Catalan%20dish%20of,scattered%20with%20thyme%20and%20basil" TargetMode="External"/><Relationship Id="rId14" Type="http://schemas.openxmlformats.org/officeDocument/2006/relationships/hyperlink" Target="https://ticketshop.barcelona/park-guell.htm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EF08599-3FED-4288-A20D-E7BCAC3B8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3A7C4-B5D6-D9A7-A339-7A5290A5F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91" r="9091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Freeform 13">
            <a:extLst>
              <a:ext uri="{FF2B5EF4-FFF2-40B4-BE49-F238E27FC236}">
                <a16:creationId xmlns:a16="http://schemas.microsoft.com/office/drawing/2014/main" id="{C884A6B2-90E9-4BDB-8503-71AC02D3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6933" y="-16933"/>
            <a:ext cx="7340600" cy="6883400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40600" h="6883400">
                <a:moveTo>
                  <a:pt x="5427133" y="8466"/>
                </a:moveTo>
                <a:lnTo>
                  <a:pt x="4783666" y="2573866"/>
                </a:lnTo>
                <a:lnTo>
                  <a:pt x="7340600" y="6874933"/>
                </a:lnTo>
                <a:lnTo>
                  <a:pt x="0" y="6883400"/>
                </a:lnTo>
                <a:lnTo>
                  <a:pt x="8466" y="0"/>
                </a:lnTo>
                <a:lnTo>
                  <a:pt x="5427133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7CB8-5540-40AD-3B00-39A12DC6E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34067"/>
            <a:ext cx="4080932" cy="3310468"/>
          </a:xfrm>
        </p:spPr>
        <p:txBody>
          <a:bodyPr>
            <a:normAutofit/>
          </a:bodyPr>
          <a:lstStyle/>
          <a:p>
            <a:pPr algn="l"/>
            <a:r>
              <a:rPr lang="en-CA" sz="5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Barcelona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811BB-F7AC-3142-D144-FF785594A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944534"/>
            <a:ext cx="4080933" cy="939799"/>
          </a:xfrm>
        </p:spPr>
        <p:txBody>
          <a:bodyPr>
            <a:normAutofit/>
          </a:bodyPr>
          <a:lstStyle/>
          <a:p>
            <a:pPr algn="l"/>
            <a:r>
              <a:rPr lang="en-CA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Vasukumar</a:t>
            </a:r>
            <a:r>
              <a:rPr lang="en-CA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, Sabit, Harpreet, and Chaitanya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046BC8-D404-4E7D-9202-A07F3FDD3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64100" y="-4763"/>
            <a:ext cx="5014912" cy="6862763"/>
            <a:chOff x="2928938" y="-4763"/>
            <a:chExt cx="5014912" cy="6862763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C202215-4C35-450D-9F60-671C8F8DE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1A5BA8A-AEB4-4BCB-B86C-3F6A8E229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8AC2443-05F0-41CD-8D4A-63DE144F8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3E32F17-ED99-4969-B4D6-10A987D73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5599A813-8424-4E53-95CA-85BF5470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52431A4F-4662-480B-8AD3-394EACD7E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94277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stained glass window&#10;&#10;Description automatically generated">
            <a:extLst>
              <a:ext uri="{FF2B5EF4-FFF2-40B4-BE49-F238E27FC236}">
                <a16:creationId xmlns:a16="http://schemas.microsoft.com/office/drawing/2014/main" id="{7316703C-7743-7F2D-97F6-E5087F367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46" b="418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Freeform 15">
            <a:extLst>
              <a:ext uri="{FF2B5EF4-FFF2-40B4-BE49-F238E27FC236}">
                <a16:creationId xmlns:a16="http://schemas.microsoft.com/office/drawing/2014/main" id="{AAAE29C6-F6DD-4D29-805A-6C214EA9C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6933" y="-16933"/>
            <a:ext cx="9491133" cy="6883400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  <a:gd name="connsiteX0" fmla="*/ 9203266 w 9203266"/>
              <a:gd name="connsiteY0" fmla="*/ 16933 h 6883400"/>
              <a:gd name="connsiteX1" fmla="*/ 4783666 w 9203266"/>
              <a:gd name="connsiteY1" fmla="*/ 2573866 h 6883400"/>
              <a:gd name="connsiteX2" fmla="*/ 7340600 w 9203266"/>
              <a:gd name="connsiteY2" fmla="*/ 6874933 h 6883400"/>
              <a:gd name="connsiteX3" fmla="*/ 0 w 9203266"/>
              <a:gd name="connsiteY3" fmla="*/ 6883400 h 6883400"/>
              <a:gd name="connsiteX4" fmla="*/ 8466 w 9203266"/>
              <a:gd name="connsiteY4" fmla="*/ 0 h 6883400"/>
              <a:gd name="connsiteX5" fmla="*/ 9203266 w 9203266"/>
              <a:gd name="connsiteY5" fmla="*/ 16933 h 6883400"/>
              <a:gd name="connsiteX0" fmla="*/ 9203266 w 9203266"/>
              <a:gd name="connsiteY0" fmla="*/ 16933 h 6883400"/>
              <a:gd name="connsiteX1" fmla="*/ 8339666 w 9203266"/>
              <a:gd name="connsiteY1" fmla="*/ 5240866 h 6883400"/>
              <a:gd name="connsiteX2" fmla="*/ 7340600 w 9203266"/>
              <a:gd name="connsiteY2" fmla="*/ 6874933 h 6883400"/>
              <a:gd name="connsiteX3" fmla="*/ 0 w 9203266"/>
              <a:gd name="connsiteY3" fmla="*/ 6883400 h 6883400"/>
              <a:gd name="connsiteX4" fmla="*/ 8466 w 9203266"/>
              <a:gd name="connsiteY4" fmla="*/ 0 h 6883400"/>
              <a:gd name="connsiteX5" fmla="*/ 9203266 w 9203266"/>
              <a:gd name="connsiteY5" fmla="*/ 16933 h 6883400"/>
              <a:gd name="connsiteX0" fmla="*/ 9203266 w 9491133"/>
              <a:gd name="connsiteY0" fmla="*/ 16933 h 6883400"/>
              <a:gd name="connsiteX1" fmla="*/ 8339666 w 9491133"/>
              <a:gd name="connsiteY1" fmla="*/ 5240866 h 6883400"/>
              <a:gd name="connsiteX2" fmla="*/ 9491133 w 9491133"/>
              <a:gd name="connsiteY2" fmla="*/ 6883400 h 6883400"/>
              <a:gd name="connsiteX3" fmla="*/ 0 w 9491133"/>
              <a:gd name="connsiteY3" fmla="*/ 6883400 h 6883400"/>
              <a:gd name="connsiteX4" fmla="*/ 8466 w 9491133"/>
              <a:gd name="connsiteY4" fmla="*/ 0 h 6883400"/>
              <a:gd name="connsiteX5" fmla="*/ 9203266 w 9491133"/>
              <a:gd name="connsiteY5" fmla="*/ 16933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91133" h="6883400">
                <a:moveTo>
                  <a:pt x="9203266" y="16933"/>
                </a:moveTo>
                <a:lnTo>
                  <a:pt x="8339666" y="5240866"/>
                </a:lnTo>
                <a:lnTo>
                  <a:pt x="9491133" y="6883400"/>
                </a:lnTo>
                <a:lnTo>
                  <a:pt x="0" y="6883400"/>
                </a:lnTo>
                <a:lnTo>
                  <a:pt x="8466" y="0"/>
                </a:lnTo>
                <a:lnTo>
                  <a:pt x="9203266" y="16933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5A23-8205-B62D-D9A4-BE75D1E7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7391400" cy="1176867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C9F0C-F3DC-3888-8C67-B44C141F6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888067"/>
            <a:ext cx="7391401" cy="3970866"/>
          </a:xfrm>
        </p:spPr>
        <p:txBody>
          <a:bodyPr>
            <a:normAutofit/>
          </a:bodyPr>
          <a:lstStyle/>
          <a:p>
            <a:r>
              <a:rPr lang="en-CA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r>
              <a:rPr lang="en-CA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Attractions</a:t>
            </a:r>
          </a:p>
          <a:p>
            <a:r>
              <a:rPr lang="en-CA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Foods</a:t>
            </a:r>
          </a:p>
          <a:p>
            <a:r>
              <a:rPr lang="en-CA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Festivals and events</a:t>
            </a:r>
          </a:p>
          <a:p>
            <a:r>
              <a:rPr lang="en-CA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Activities</a:t>
            </a:r>
          </a:p>
          <a:p>
            <a:r>
              <a:rPr lang="en-CA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  <a:p>
            <a:r>
              <a:rPr lang="en-CA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0581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11981333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8A894-96EF-7902-B8A1-A94BC476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Low angle view of a building&#10;&#10;Description automatically generated">
            <a:extLst>
              <a:ext uri="{FF2B5EF4-FFF2-40B4-BE49-F238E27FC236}">
                <a16:creationId xmlns:a16="http://schemas.microsoft.com/office/drawing/2014/main" id="{78D33C73-343F-25A0-32DA-B02EAEF75C9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94B4BB-D79E-2A80-31E9-DD78DB76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84" y="797849"/>
            <a:ext cx="3806243" cy="4965833"/>
          </a:xfrm>
        </p:spPr>
        <p:txBody>
          <a:bodyPr>
            <a:normAutofit/>
          </a:bodyPr>
          <a:lstStyle/>
          <a:p>
            <a:pPr algn="r"/>
            <a:r>
              <a:rPr lang="en-CA" sz="4400" b="1">
                <a:latin typeface="Tahoma"/>
                <a:ea typeface="Tahoma"/>
                <a:cs typeface="Tahoma"/>
              </a:rPr>
              <a:t>Introduction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378FF8B-3743-48E1-88E3-F4CADB3DE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06171"/>
            <a:ext cx="0" cy="34316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FC017-704E-5A63-A5BC-895FDF6CD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771" y="797849"/>
            <a:ext cx="6591346" cy="4965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800" b="1">
                <a:latin typeface="Tahoma"/>
                <a:ea typeface="Tahoma"/>
                <a:cs typeface="Tahoma"/>
              </a:rPr>
              <a:t>Who are we?</a:t>
            </a:r>
          </a:p>
          <a:p>
            <a:r>
              <a:rPr lang="en-CA" sz="2800" err="1">
                <a:latin typeface="Tahoma"/>
                <a:ea typeface="Tahoma"/>
                <a:cs typeface="Tahoma"/>
              </a:rPr>
              <a:t>Vasukumar</a:t>
            </a:r>
            <a:r>
              <a:rPr lang="en-CA" sz="2800">
                <a:latin typeface="Tahoma"/>
                <a:ea typeface="Tahoma"/>
                <a:cs typeface="Tahoma"/>
              </a:rPr>
              <a:t> Patel – Gujarat, India.</a:t>
            </a:r>
          </a:p>
          <a:p>
            <a:r>
              <a:rPr lang="en-CA" sz="2800">
                <a:latin typeface="Tahoma"/>
                <a:ea typeface="Tahoma"/>
                <a:cs typeface="Tahoma"/>
              </a:rPr>
              <a:t>Sabit Naim – Dhaka, Bangladesh.</a:t>
            </a:r>
          </a:p>
          <a:p>
            <a:r>
              <a:rPr lang="en-CA" sz="2800">
                <a:latin typeface="Tahoma"/>
                <a:ea typeface="Tahoma"/>
                <a:cs typeface="Tahoma"/>
              </a:rPr>
              <a:t>Harpreet Singh – Punjab, India.</a:t>
            </a:r>
          </a:p>
          <a:p>
            <a:r>
              <a:rPr lang="en-CA" sz="2800">
                <a:latin typeface="Tahoma"/>
                <a:ea typeface="Tahoma"/>
                <a:cs typeface="Tahoma"/>
              </a:rPr>
              <a:t>Chaitanya Patel – Gujarat, India.</a:t>
            </a:r>
          </a:p>
        </p:txBody>
      </p:sp>
    </p:spTree>
    <p:extLst>
      <p:ext uri="{BB962C8B-B14F-4D97-AF65-F5344CB8AC3E}">
        <p14:creationId xmlns:p14="http://schemas.microsoft.com/office/powerpoint/2010/main" val="3103953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9F2C18C-103B-4C2A-BF05-80F1FFF9C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51892D2D-AFA1-4A8A-A3CB-D24D68637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2974973" y="-15832"/>
            <a:ext cx="9217026" cy="6889518"/>
          </a:xfrm>
          <a:custGeom>
            <a:avLst/>
            <a:gdLst>
              <a:gd name="connsiteX0" fmla="*/ 1087153 w 9217026"/>
              <a:gd name="connsiteY0" fmla="*/ 0 h 6889518"/>
              <a:gd name="connsiteX1" fmla="*/ 1087153 w 9217026"/>
              <a:gd name="connsiteY1" fmla="*/ 1098 h 6889518"/>
              <a:gd name="connsiteX2" fmla="*/ 0 w 9217026"/>
              <a:gd name="connsiteY2" fmla="*/ 0 h 6889518"/>
              <a:gd name="connsiteX3" fmla="*/ 0 w 9217026"/>
              <a:gd name="connsiteY3" fmla="*/ 6889518 h 6889518"/>
              <a:gd name="connsiteX4" fmla="*/ 1087153 w 9217026"/>
              <a:gd name="connsiteY4" fmla="*/ 6888254 h 6889518"/>
              <a:gd name="connsiteX5" fmla="*/ 1087153 w 9217026"/>
              <a:gd name="connsiteY5" fmla="*/ 6889518 h 6889518"/>
              <a:gd name="connsiteX6" fmla="*/ 7295095 w 9217026"/>
              <a:gd name="connsiteY6" fmla="*/ 6882299 h 6889518"/>
              <a:gd name="connsiteX7" fmla="*/ 9217026 w 9217026"/>
              <a:gd name="connsiteY7" fmla="*/ 5349831 h 6889518"/>
              <a:gd name="connsiteX8" fmla="*/ 8378827 w 9217026"/>
              <a:gd name="connsiteY8" fmla="*/ 7365 h 688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7026" h="6889518">
                <a:moveTo>
                  <a:pt x="1087153" y="0"/>
                </a:moveTo>
                <a:lnTo>
                  <a:pt x="1087153" y="1098"/>
                </a:lnTo>
                <a:lnTo>
                  <a:pt x="0" y="0"/>
                </a:lnTo>
                <a:lnTo>
                  <a:pt x="0" y="6889518"/>
                </a:lnTo>
                <a:lnTo>
                  <a:pt x="1087153" y="6888254"/>
                </a:lnTo>
                <a:lnTo>
                  <a:pt x="1087153" y="6889518"/>
                </a:lnTo>
                <a:lnTo>
                  <a:pt x="7295095" y="6882299"/>
                </a:lnTo>
                <a:lnTo>
                  <a:pt x="9217026" y="5349831"/>
                </a:lnTo>
                <a:lnTo>
                  <a:pt x="8378827" y="7365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B494D8-AD41-49A5-A56B-FE659E02A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E6362DD6-03C5-4033-B4B0-A817D4818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D4449137-6C25-4073-83C6-FF2034077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0902DC7-44AC-43E8-A857-DB023D9CD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4F6C3FD3-850E-4827-8AFA-AF6DAF7EF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CB95DE6E-D4BE-41C6-B767-28D953E3F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AE0F0CD2-C1D9-4713-BCC7-55A542BC6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036B85-DD4D-D607-FC04-BEF76CB01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563" y="241300"/>
            <a:ext cx="7446961" cy="1752599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pic>
        <p:nvPicPr>
          <p:cNvPr id="7" name="Picture 6" descr="A group of people walking around a city&#10;&#10;Description automatically generated">
            <a:extLst>
              <a:ext uri="{FF2B5EF4-FFF2-40B4-BE49-F238E27FC236}">
                <a16:creationId xmlns:a16="http://schemas.microsoft.com/office/drawing/2014/main" id="{D7BBBE3D-B352-2399-CECE-950410FA9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50" r="7417"/>
          <a:stretch/>
        </p:blipFill>
        <p:spPr>
          <a:xfrm>
            <a:off x="20" y="1"/>
            <a:ext cx="3175466" cy="2622205"/>
          </a:xfrm>
          <a:custGeom>
            <a:avLst/>
            <a:gdLst/>
            <a:ahLst/>
            <a:cxnLst/>
            <a:rect l="l" t="t" r="r" b="b"/>
            <a:pathLst>
              <a:path w="3175486" h="2622205">
                <a:moveTo>
                  <a:pt x="0" y="0"/>
                </a:moveTo>
                <a:lnTo>
                  <a:pt x="3175486" y="0"/>
                </a:lnTo>
                <a:lnTo>
                  <a:pt x="2733426" y="2622205"/>
                </a:lnTo>
                <a:lnTo>
                  <a:pt x="0" y="2160761"/>
                </a:lnTo>
                <a:close/>
              </a:path>
            </a:pathLst>
          </a:custGeom>
          <a:ln w="38100">
            <a:noFill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93323B-5F1F-8A1B-0DF8-3C8996C4E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1" b="7671"/>
          <a:stretch/>
        </p:blipFill>
        <p:spPr>
          <a:xfrm>
            <a:off x="1" y="2160794"/>
            <a:ext cx="2733421" cy="3085156"/>
          </a:xfrm>
          <a:custGeom>
            <a:avLst/>
            <a:gdLst/>
            <a:ahLst/>
            <a:cxnLst/>
            <a:rect l="l" t="t" r="r" b="b"/>
            <a:pathLst>
              <a:path w="2733421" h="3085156">
                <a:moveTo>
                  <a:pt x="0" y="0"/>
                </a:moveTo>
                <a:lnTo>
                  <a:pt x="2733421" y="461444"/>
                </a:lnTo>
                <a:lnTo>
                  <a:pt x="2294818" y="3063138"/>
                </a:lnTo>
                <a:lnTo>
                  <a:pt x="2310547" y="3085156"/>
                </a:lnTo>
                <a:lnTo>
                  <a:pt x="0" y="2741169"/>
                </a:lnTo>
                <a:close/>
              </a:path>
            </a:pathLst>
          </a:custGeom>
          <a:ln w="38100">
            <a:noFill/>
          </a:ln>
          <a:effectLst/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BEC20B-48EC-4E84-9E56-D970F8120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" y="2160794"/>
            <a:ext cx="2733421" cy="46141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road with cars and buildings in the background&#10;&#10;Description automatically generated">
            <a:extLst>
              <a:ext uri="{FF2B5EF4-FFF2-40B4-BE49-F238E27FC236}">
                <a16:creationId xmlns:a16="http://schemas.microsoft.com/office/drawing/2014/main" id="{13C8E73D-3793-C589-EA82-531AAF87DE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0" r="2" b="5177"/>
          <a:stretch/>
        </p:blipFill>
        <p:spPr>
          <a:xfrm>
            <a:off x="20" y="4901964"/>
            <a:ext cx="3459143" cy="1956037"/>
          </a:xfrm>
          <a:custGeom>
            <a:avLst/>
            <a:gdLst/>
            <a:ahLst/>
            <a:cxnLst/>
            <a:rect l="l" t="t" r="r" b="b"/>
            <a:pathLst>
              <a:path w="3459163" h="1956037">
                <a:moveTo>
                  <a:pt x="0" y="0"/>
                </a:moveTo>
                <a:lnTo>
                  <a:pt x="2310547" y="343987"/>
                </a:lnTo>
                <a:lnTo>
                  <a:pt x="3459163" y="1951804"/>
                </a:lnTo>
                <a:lnTo>
                  <a:pt x="0" y="1956037"/>
                </a:lnTo>
                <a:close/>
              </a:path>
            </a:pathLst>
          </a:custGeom>
          <a:ln w="38100">
            <a:noFill/>
          </a:ln>
          <a:effectLst/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E65CDC-35D6-4BC5-99C5-3F9DB0C5A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892132"/>
            <a:ext cx="2360612" cy="343986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7D293-BA5D-933B-D890-CDF80AEDC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895" y="1714499"/>
            <a:ext cx="7446961" cy="462703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CA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What and where is Barcelona?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Barcelona is a city on the northeastern coast of Spain. It is the capital and largest city of the autonomous community of Catalonia.</a:t>
            </a:r>
          </a:p>
          <a:p>
            <a:pPr>
              <a:lnSpc>
                <a:spcPct val="90000"/>
              </a:lnSpc>
            </a:pPr>
            <a:r>
              <a:rPr lang="en-US" sz="2800" b="0" i="0" dirty="0">
                <a:solidFill>
                  <a:schemeClr val="bg1"/>
                </a:solidFill>
                <a:effectLst/>
                <a:latin typeface="Arial"/>
                <a:cs typeface="Arial"/>
              </a:rPr>
              <a:t>Barcelona has a rich cultural heritage and is today an important cultural center and a major tourist destination.</a:t>
            </a:r>
            <a:endParaRPr lang="en-US" sz="2800" b="0" i="0" dirty="0">
              <a:solidFill>
                <a:schemeClr val="bg1"/>
              </a:solidFill>
              <a:effectLst/>
              <a:latin typeface="Arial"/>
              <a:ea typeface="Tahoma" panose="020B060403050404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74719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27500CA-FA61-49B6-AC7B-2CE50433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BB2C0D0-9D80-4309-B3A1-320A61FC6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BD302E04-6272-4489-AC6C-BD90F6BE4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654ECFC5-08C7-4BEA-8913-423DF4B2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22B548B5-28F3-4F2F-BDDA-A16D0D276D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EB0B6947-A2CA-4DF4-B955-DAFECEC2E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D4F51AD8-AD43-4ABE-85E8-4F769F8C2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57BADC-11B8-3F94-1A00-930B7E62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5781729" cy="1752599"/>
          </a:xfrm>
        </p:spPr>
        <p:txBody>
          <a:bodyPr>
            <a:normAutofit/>
          </a:bodyPr>
          <a:lstStyle/>
          <a:p>
            <a:r>
              <a:rPr lang="en-CA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3FCBF-96CA-1A13-7182-1825BD385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5781730" cy="312420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Sagrada Família:</a:t>
            </a:r>
          </a:p>
          <a:p>
            <a:r>
              <a:rPr lang="en-C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Sagrada Família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church under construction in Barcelona.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the largest unfinished Catholic church in the world. Designed by Catalan architect Antoni Gaudí.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also a UNESCO World Heritage Site.</a:t>
            </a: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6958E693-06E1-4835-9E33-076E6D8ED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0503" y="648931"/>
            <a:ext cx="3912520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arge building with a tower&#10;&#10;Description automatically generated">
            <a:extLst>
              <a:ext uri="{FF2B5EF4-FFF2-40B4-BE49-F238E27FC236}">
                <a16:creationId xmlns:a16="http://schemas.microsoft.com/office/drawing/2014/main" id="{70F668A0-2EB6-74B0-9E51-CB92B93FE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1"/>
          <a:stretch/>
        </p:blipFill>
        <p:spPr>
          <a:xfrm>
            <a:off x="7951593" y="1011765"/>
            <a:ext cx="3226968" cy="45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822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89C8A-99C0-C0D9-B17C-69383C8CC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1C9E2A-D435-88DF-62A4-2B4389DAA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CC6689D-BA09-5422-6D4A-EE608018AB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E4F04B43-B8F0-0037-4F28-B2AC853B5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69328512-B7FD-9ABE-7232-CE85AD81A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7F294F76-66EC-E65B-B2B1-4EA53F641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563CBB51-0414-03ED-27E7-6ECC75EB4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AEE4A013-324E-91F7-4EEA-F544CFE09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626B52-54C7-325B-898B-1918CCC2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5781729" cy="1752599"/>
          </a:xfrm>
        </p:spPr>
        <p:txBody>
          <a:bodyPr>
            <a:normAutofit/>
          </a:bodyPr>
          <a:lstStyle/>
          <a:p>
            <a:r>
              <a:rPr lang="en-CA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E5D58-7CBA-F790-BD57-433821F3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5781730" cy="31242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Barceloneta Beach: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Barceloneta Beach is known for its sandy beaches and its many restaurants and nightclubs along the boardwalk.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Barceloneta still retains the scent of salt and marine life. For many, this is considered a luxury.</a:t>
            </a: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EE60927D-5F84-F07E-3C3D-5A55BDEBA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0503" y="648931"/>
            <a:ext cx="3912520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90547-5E7C-5E5F-E29A-D74515061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4" b="3044"/>
          <a:stretch/>
        </p:blipFill>
        <p:spPr>
          <a:xfrm>
            <a:off x="7951593" y="1011765"/>
            <a:ext cx="3226968" cy="45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44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3FEC9-8ACE-0ACE-0DEB-7804B94F0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BBB0B7B-8479-539B-1F7A-4AAF1EB38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1ED778C-8428-9D29-9676-2B5B3E3F2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2E6994B-7F9E-1889-CC82-4626668E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34950C21-B49C-373D-0827-41474126D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AEE45D4A-EF8E-3033-153C-6F93D14F2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A813C72A-D670-767A-4C07-DCD787DE7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8F223F6C-9708-5C8A-7E1F-158A2D81C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601CAA-A686-2A51-7915-9DA5F074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5781729" cy="1752599"/>
          </a:xfrm>
        </p:spPr>
        <p:txBody>
          <a:bodyPr>
            <a:normAutofit/>
          </a:bodyPr>
          <a:lstStyle/>
          <a:p>
            <a:r>
              <a:rPr lang="en-CA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34EF8-FFCF-F7D2-4BBD-560E385E1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5781730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Spotify Camp Nou: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 Nou is a stadium in Barcelona and the home of one of the biggest football clubs in the world, FC Barcelona.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a great destination for a football </a:t>
            </a:r>
            <a:r>
              <a:rPr lang="en-C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enthusiast.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8A2EF3AD-11C3-66FE-0D9D-008E43365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0503" y="648931"/>
            <a:ext cx="3912520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1CE99-2851-FFEF-F2AC-A5BFF52D2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5" r="23385"/>
          <a:stretch/>
        </p:blipFill>
        <p:spPr>
          <a:xfrm>
            <a:off x="7951593" y="1011765"/>
            <a:ext cx="3226968" cy="45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17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an of seafood and rice&#10;&#10;Description automatically generated">
            <a:extLst>
              <a:ext uri="{FF2B5EF4-FFF2-40B4-BE49-F238E27FC236}">
                <a16:creationId xmlns:a16="http://schemas.microsoft.com/office/drawing/2014/main" id="{2840562F-54B7-B955-076B-C070A8CF5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6" r="25783" b="-1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7C7E16-1CFD-8F0F-97BB-FA4150A0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80" y="-467783"/>
            <a:ext cx="6022680" cy="2906182"/>
          </a:xfrm>
        </p:spPr>
        <p:txBody>
          <a:bodyPr>
            <a:normAutofit/>
          </a:bodyPr>
          <a:lstStyle/>
          <a:p>
            <a:pPr algn="l"/>
            <a:r>
              <a:rPr lang="en-CA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94648-27AA-882E-ABCF-535ECE7FE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15" y="158749"/>
            <a:ext cx="6371929" cy="6987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ahoma"/>
                <a:ea typeface="Tahoma"/>
                <a:cs typeface="Tahoma"/>
              </a:rPr>
              <a:t>Paella Valenciana:</a:t>
            </a:r>
          </a:p>
          <a:p>
            <a:r>
              <a:rPr lang="en-US" dirty="0">
                <a:latin typeface="Tahoma"/>
                <a:ea typeface="Tahoma"/>
                <a:cs typeface="Tahoma"/>
              </a:rPr>
              <a:t>Traditional dish </a:t>
            </a:r>
            <a:endParaRPr lang="en-CA" dirty="0">
              <a:latin typeface="Tahoma"/>
              <a:ea typeface="Tahoma"/>
              <a:cs typeface="Tahoma"/>
            </a:endParaRPr>
          </a:p>
          <a:p>
            <a:pPr>
              <a:buClr>
                <a:srgbClr val="C87D0E"/>
              </a:buClr>
            </a:pPr>
            <a:r>
              <a:rPr lang="en-US" dirty="0">
                <a:latin typeface="Tahoma"/>
                <a:ea typeface="Tahoma"/>
                <a:cs typeface="Tahoma"/>
              </a:rPr>
              <a:t>Believed to be the original recipe </a:t>
            </a:r>
            <a:endParaRPr lang="en-CA" dirty="0">
              <a:latin typeface="Tahoma"/>
              <a:ea typeface="Tahoma"/>
              <a:cs typeface="Tahoma"/>
            </a:endParaRPr>
          </a:p>
          <a:p>
            <a:pPr>
              <a:buClr>
                <a:srgbClr val="C87D0E"/>
              </a:buClr>
            </a:pPr>
            <a:r>
              <a:rPr lang="en-US" dirty="0">
                <a:latin typeface="Tahoma"/>
                <a:ea typeface="Tahoma"/>
                <a:cs typeface="Tahoma"/>
              </a:rPr>
              <a:t>Made of Valencian rice, olive oil, rabbit, chicken, saffron, tomato, </a:t>
            </a:r>
            <a:r>
              <a:rPr lang="en-US" dirty="0" err="1">
                <a:latin typeface="Tahoma"/>
                <a:ea typeface="Tahoma"/>
                <a:cs typeface="Tahoma"/>
              </a:rPr>
              <a:t>ferradura</a:t>
            </a:r>
            <a:r>
              <a:rPr lang="en-US" dirty="0">
                <a:latin typeface="Tahoma"/>
                <a:ea typeface="Tahoma"/>
                <a:cs typeface="Tahoma"/>
              </a:rPr>
              <a:t> or flat green bean, lima beans (Phaseolus lunatus), salt and water.</a:t>
            </a:r>
            <a:endParaRPr lang="en-CA" dirty="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8815700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F8884-4EE1-EADC-BA86-4659B6719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C57892-D15E-1DD5-F728-BBC746B9E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105F2-531A-B99B-94D3-8A160E88E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38A93D-7B58-F62D-98A1-9E3D4CA5B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FD395031-41AF-F1E9-2125-8F7A4B1A7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F4BD5F6-E901-0D95-FC29-773A28112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3E31E30-EB43-70DC-FA80-AFD56F6FD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57F282C-7649-FD5F-7875-96E76D9F5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8A709DE-7402-81C1-AC65-18C7204E2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A1B5DB49-E250-C870-D065-3E74AE291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E9CC59-A5C3-1137-D708-53B394A01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30" y="-488950"/>
            <a:ext cx="6117930" cy="1921933"/>
          </a:xfrm>
        </p:spPr>
        <p:txBody>
          <a:bodyPr>
            <a:normAutofit/>
          </a:bodyPr>
          <a:lstStyle/>
          <a:p>
            <a:pPr algn="l"/>
            <a:r>
              <a:rPr lang="en-CA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52859-8E9B-459F-BE00-6C4593789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2" y="-359834"/>
            <a:ext cx="5980346" cy="7854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  <a:latin typeface="Tahoma"/>
                <a:ea typeface="Tahoma"/>
                <a:cs typeface="Tahoma"/>
              </a:rPr>
              <a:t>Sangria</a:t>
            </a:r>
            <a:r>
              <a:rPr lang="en-IN" b="1" dirty="0">
                <a:effectLst/>
                <a:latin typeface="Calibri"/>
                <a:ea typeface="Calibri" panose="020F0502020204030204" pitchFamily="34" charset="0"/>
                <a:cs typeface="Times New Roman"/>
              </a:rPr>
              <a:t>:</a:t>
            </a:r>
          </a:p>
          <a:p>
            <a:r>
              <a:rPr lang="en-US" dirty="0">
                <a:latin typeface="Tahoma"/>
                <a:ea typeface="Tahoma"/>
                <a:cs typeface="Tahoma"/>
              </a:rPr>
              <a:t>Made of red wine and chopped fruits</a:t>
            </a:r>
          </a:p>
          <a:p>
            <a:pPr>
              <a:buClr>
                <a:srgbClr val="C87D0E"/>
              </a:buClr>
            </a:pPr>
            <a:r>
              <a:rPr lang="en-US" dirty="0">
                <a:latin typeface="Tahoma"/>
                <a:ea typeface="Tahoma"/>
                <a:cs typeface="Tahoma"/>
              </a:rPr>
              <a:t>Incredibly popular with tourists. </a:t>
            </a:r>
            <a:endParaRPr lang="en-US" dirty="0">
              <a:latin typeface="Corbel" panose="020B0503020204020204"/>
              <a:ea typeface="Tahoma"/>
              <a:cs typeface="Tahoma"/>
            </a:endParaRPr>
          </a:p>
          <a:p>
            <a:pPr>
              <a:buClr>
                <a:srgbClr val="C87D0E"/>
              </a:buClr>
            </a:pPr>
            <a:r>
              <a:rPr lang="en-US" dirty="0">
                <a:latin typeface="Tahoma"/>
                <a:ea typeface="Tahoma"/>
                <a:cs typeface="Tahoma"/>
              </a:rPr>
              <a:t>While Barcelona locals do drink Sangria, this beverage is really a tourist favorite!</a:t>
            </a:r>
            <a:endParaRPr lang="en-US" dirty="0"/>
          </a:p>
          <a:p>
            <a:r>
              <a:rPr lang="en-US" dirty="0">
                <a:latin typeface="Tahoma"/>
                <a:ea typeface="Tahoma"/>
                <a:cs typeface="Tahoma"/>
              </a:rPr>
              <a:t>Numerous different fruits can be used, including peaches, berries, apples, lime, pineapple, and more.</a:t>
            </a:r>
          </a:p>
        </p:txBody>
      </p:sp>
    </p:spTree>
    <p:extLst>
      <p:ext uri="{BB962C8B-B14F-4D97-AF65-F5344CB8AC3E}">
        <p14:creationId xmlns:p14="http://schemas.microsoft.com/office/powerpoint/2010/main" val="3115021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62FAC-5571-A592-DFEC-F057D792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late of food with a spoon&#10;&#10;Description automatically generated">
            <a:extLst>
              <a:ext uri="{FF2B5EF4-FFF2-40B4-BE49-F238E27FC236}">
                <a16:creationId xmlns:a16="http://schemas.microsoft.com/office/drawing/2014/main" id="{E11F5016-0B89-7469-F5B0-9793B8D69B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43" r="22379" b="-1"/>
          <a:stretch/>
        </p:blipFill>
        <p:spPr>
          <a:xfrm>
            <a:off x="6772694" y="2506"/>
            <a:ext cx="5424469" cy="6954445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A76AF6-1AAD-B774-305D-B6D73254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97" y="-309033"/>
            <a:ext cx="5906263" cy="1763182"/>
          </a:xfrm>
        </p:spPr>
        <p:txBody>
          <a:bodyPr>
            <a:normAutofit/>
          </a:bodyPr>
          <a:lstStyle/>
          <a:p>
            <a:pPr algn="l"/>
            <a:r>
              <a:rPr lang="en-CA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453C8-DDDB-2E76-DD18-B2973E17F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90" y="-1143"/>
            <a:ext cx="5903974" cy="764429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b="1" dirty="0" err="1">
                <a:effectLst/>
                <a:latin typeface="Tahoma"/>
                <a:ea typeface="Tahoma"/>
                <a:cs typeface="Tahoma"/>
              </a:rPr>
              <a:t>Escalivada</a:t>
            </a:r>
            <a:r>
              <a:rPr lang="en-IN" b="1" dirty="0">
                <a:latin typeface="Tahoma"/>
                <a:ea typeface="Tahoma"/>
                <a:cs typeface="Tahoma"/>
              </a:rPr>
              <a:t> (Vegetarian):</a:t>
            </a:r>
            <a:endParaRPr lang="en-IN" b="1" dirty="0">
              <a:effectLst/>
              <a:latin typeface="Tahoma"/>
              <a:ea typeface="Tahoma"/>
              <a:cs typeface="Tahoma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Tahoma"/>
                <a:ea typeface="Tahoma"/>
                <a:cs typeface="Tahoma"/>
              </a:rPr>
              <a:t> It is a mix</a:t>
            </a:r>
            <a:r>
              <a:rPr lang="en-US" dirty="0">
                <a:effectLst/>
                <a:latin typeface="Tahoma"/>
                <a:ea typeface="Tahoma"/>
                <a:cs typeface="Tahoma"/>
              </a:rPr>
              <a:t> of bell peppers, onions, and </a:t>
            </a:r>
            <a:r>
              <a:rPr lang="en-US" dirty="0">
                <a:latin typeface="Tahoma"/>
                <a:ea typeface="Tahoma"/>
                <a:cs typeface="Tahoma"/>
              </a:rPr>
              <a:t>eggplant</a:t>
            </a:r>
          </a:p>
          <a:p>
            <a:pPr>
              <a:lnSpc>
                <a:spcPct val="90000"/>
              </a:lnSpc>
              <a:buClr>
                <a:srgbClr val="C87D0E"/>
              </a:buClr>
            </a:pPr>
            <a:r>
              <a:rPr lang="en-US" dirty="0">
                <a:latin typeface="Tahoma"/>
                <a:ea typeface="Tahoma"/>
                <a:cs typeface="Tahoma"/>
              </a:rPr>
              <a:t>Made with coated</a:t>
            </a:r>
            <a:r>
              <a:rPr lang="en-US" dirty="0">
                <a:effectLst/>
                <a:latin typeface="Tahoma"/>
                <a:ea typeface="Tahoma"/>
                <a:cs typeface="Tahoma"/>
              </a:rPr>
              <a:t> in olive oil and scattered with thyme and basil.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effectLst/>
                <a:latin typeface="Tahoma"/>
                <a:ea typeface="Tahoma"/>
                <a:cs typeface="Tahoma"/>
              </a:rPr>
              <a:t>It’s eaten with fresh bread and can be served warm or cold. </a:t>
            </a:r>
            <a:endParaRPr lang="en-US" dirty="0">
              <a:latin typeface="Tahoma"/>
              <a:ea typeface="Tahoma"/>
              <a:cs typeface="Tahoma"/>
            </a:endParaRPr>
          </a:p>
          <a:p>
            <a:pPr>
              <a:lnSpc>
                <a:spcPct val="90000"/>
              </a:lnSpc>
              <a:buClr>
                <a:srgbClr val="C87D0E"/>
              </a:buClr>
            </a:pPr>
            <a:r>
              <a:rPr lang="en-US" dirty="0" err="1">
                <a:effectLst/>
                <a:latin typeface="Tahoma"/>
                <a:ea typeface="Tahoma"/>
                <a:cs typeface="Tahoma"/>
              </a:rPr>
              <a:t>Escalivada</a:t>
            </a:r>
            <a:r>
              <a:rPr lang="en-US" dirty="0">
                <a:effectLst/>
                <a:latin typeface="Tahoma"/>
                <a:ea typeface="Tahoma"/>
                <a:cs typeface="Tahoma"/>
              </a:rPr>
              <a:t> is a great choice for vegans and vegetarians when visiting Barcelona.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07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200AC-4CDC-F807-C1D8-5DC0AEFD5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B20B-C70C-831C-78F3-B9E7A3A30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61106" y="-2116"/>
            <a:ext cx="10018713" cy="1185333"/>
          </a:xfrm>
        </p:spPr>
        <p:txBody>
          <a:bodyPr>
            <a:normAutofit/>
          </a:bodyPr>
          <a:lstStyle/>
          <a:p>
            <a:r>
              <a:rPr lang="en-CA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856F6-DAD8-79B6-5F23-35973D86A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061" y="283633"/>
            <a:ext cx="5670023" cy="58568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b="1" dirty="0">
                <a:effectLst/>
                <a:latin typeface="Tahoma"/>
                <a:ea typeface="Tahoma"/>
                <a:cs typeface="Tahoma"/>
              </a:rPr>
              <a:t>Other honourable mentions:</a:t>
            </a:r>
          </a:p>
          <a:p>
            <a:pPr>
              <a:lnSpc>
                <a:spcPct val="90000"/>
              </a:lnSpc>
            </a:pPr>
            <a:r>
              <a:rPr lang="en-US" dirty="0">
                <a:effectLst/>
                <a:latin typeface="Tahoma"/>
                <a:ea typeface="Tahoma"/>
                <a:cs typeface="Tahoma"/>
              </a:rPr>
              <a:t>Spanish Cheese - Spanish cheeses are among the best in the world</a:t>
            </a:r>
          </a:p>
          <a:p>
            <a:pPr marL="0" indent="0">
              <a:lnSpc>
                <a:spcPct val="90000"/>
              </a:lnSpc>
              <a:buClr>
                <a:srgbClr val="F0A22E">
                  <a:lumMod val="75000"/>
                </a:srgbClr>
              </a:buClr>
              <a:buNone/>
            </a:pPr>
            <a:endParaRPr lang="en-US" dirty="0">
              <a:latin typeface="Tahoma"/>
              <a:ea typeface="Tahoma"/>
              <a:cs typeface="Tahoma"/>
            </a:endParaRPr>
          </a:p>
          <a:p>
            <a:pPr>
              <a:lnSpc>
                <a:spcPct val="90000"/>
              </a:lnSpc>
            </a:pPr>
            <a:r>
              <a:rPr lang="en-US" dirty="0">
                <a:effectLst/>
                <a:latin typeface="Tahoma"/>
                <a:ea typeface="Tahoma"/>
                <a:cs typeface="Tahoma"/>
              </a:rPr>
              <a:t>Gazpacho - Ice-cold soup that is one of the best things to eat in Barcelona</a:t>
            </a:r>
          </a:p>
          <a:p>
            <a:pPr marL="0" indent="0">
              <a:lnSpc>
                <a:spcPct val="90000"/>
              </a:lnSpc>
              <a:buClr>
                <a:srgbClr val="F0A22E">
                  <a:lumMod val="75000"/>
                </a:srgbClr>
              </a:buClr>
              <a:buNone/>
            </a:pPr>
            <a:endParaRPr lang="en-US" dirty="0">
              <a:latin typeface="Tahoma"/>
              <a:ea typeface="Tahoma"/>
              <a:cs typeface="Tahoma"/>
            </a:endParaRPr>
          </a:p>
          <a:p>
            <a:pPr>
              <a:lnSpc>
                <a:spcPct val="90000"/>
              </a:lnSpc>
            </a:pPr>
            <a:r>
              <a:rPr lang="en-US" dirty="0">
                <a:effectLst/>
                <a:latin typeface="Tahoma"/>
                <a:ea typeface="Tahoma"/>
                <a:cs typeface="Tahoma"/>
              </a:rPr>
              <a:t>Crema </a:t>
            </a:r>
            <a:r>
              <a:rPr lang="en-US" dirty="0" err="1">
                <a:effectLst/>
                <a:latin typeface="Tahoma"/>
                <a:ea typeface="Tahoma"/>
                <a:cs typeface="Tahoma"/>
              </a:rPr>
              <a:t>Catalana</a:t>
            </a:r>
            <a:r>
              <a:rPr lang="en-US" dirty="0">
                <a:effectLst/>
                <a:latin typeface="Tahoma"/>
                <a:ea typeface="Tahoma"/>
                <a:cs typeface="Tahoma"/>
              </a:rPr>
              <a:t> </a:t>
            </a:r>
            <a:r>
              <a:rPr lang="en-US" dirty="0">
                <a:latin typeface="Tahoma"/>
                <a:ea typeface="Tahoma"/>
                <a:cs typeface="Tahoma"/>
              </a:rPr>
              <a:t>– Sweet flavor</a:t>
            </a:r>
            <a:endParaRPr lang="en-US" dirty="0">
              <a:effectLst/>
              <a:latin typeface="Tahoma"/>
              <a:ea typeface="Tahoma"/>
              <a:cs typeface="Tahoma"/>
            </a:endParaRPr>
          </a:p>
          <a:p>
            <a:pPr marL="0" indent="0">
              <a:lnSpc>
                <a:spcPct val="90000"/>
              </a:lnSpc>
              <a:buClr>
                <a:srgbClr val="F0A22E">
                  <a:lumMod val="75000"/>
                </a:srgbClr>
              </a:buClr>
              <a:buNone/>
            </a:pPr>
            <a:endParaRPr lang="en-US" dirty="0">
              <a:latin typeface="Tahoma"/>
              <a:ea typeface="Tahoma"/>
              <a:cs typeface="Tahoma"/>
            </a:endParaRPr>
          </a:p>
          <a:p>
            <a:pPr>
              <a:lnSpc>
                <a:spcPct val="90000"/>
              </a:lnSpc>
            </a:pPr>
            <a:r>
              <a:rPr lang="en-US" dirty="0">
                <a:effectLst/>
                <a:latin typeface="Tahoma"/>
                <a:ea typeface="Tahoma"/>
                <a:cs typeface="Tahoma"/>
              </a:rPr>
              <a:t>Patatas bravas </a:t>
            </a:r>
            <a:r>
              <a:rPr lang="en-US" dirty="0">
                <a:latin typeface="Tahoma"/>
                <a:ea typeface="Tahoma"/>
                <a:cs typeface="Tahoma"/>
              </a:rPr>
              <a:t>– </a:t>
            </a:r>
            <a:r>
              <a:rPr lang="en-US" dirty="0">
                <a:effectLst/>
                <a:latin typeface="Tahoma"/>
                <a:ea typeface="Tahoma"/>
                <a:cs typeface="Tahoma"/>
              </a:rPr>
              <a:t>Spicy</a:t>
            </a:r>
            <a:r>
              <a:rPr lang="en-US" dirty="0">
                <a:latin typeface="Tahoma"/>
                <a:ea typeface="Tahoma"/>
                <a:cs typeface="Tahoma"/>
              </a:rPr>
              <a:t> flavor</a:t>
            </a:r>
            <a:endParaRPr lang="en-IN" dirty="0">
              <a:effectLst/>
              <a:latin typeface="Tahoma"/>
              <a:ea typeface="Tahoma"/>
              <a:cs typeface="Tahoma"/>
            </a:endParaRPr>
          </a:p>
        </p:txBody>
      </p:sp>
      <p:pic>
        <p:nvPicPr>
          <p:cNvPr id="4" name="Picture 3" descr="A cheese on a cutting board&#10;&#10;Description automatically generated">
            <a:extLst>
              <a:ext uri="{FF2B5EF4-FFF2-40B4-BE49-F238E27FC236}">
                <a16:creationId xmlns:a16="http://schemas.microsoft.com/office/drawing/2014/main" id="{49654B6C-AC07-C49F-2611-FC2D46B2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084" y="158749"/>
            <a:ext cx="1799166" cy="1555752"/>
          </a:xfrm>
          <a:prstGeom prst="rect">
            <a:avLst/>
          </a:prstGeom>
        </p:spPr>
      </p:pic>
      <p:pic>
        <p:nvPicPr>
          <p:cNvPr id="6" name="Picture 5" descr="A bowl of soup with vegetables&#10;&#10;Description automatically generated">
            <a:extLst>
              <a:ext uri="{FF2B5EF4-FFF2-40B4-BE49-F238E27FC236}">
                <a16:creationId xmlns:a16="http://schemas.microsoft.com/office/drawing/2014/main" id="{717E98FD-869B-F110-ABF8-F242C72F5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763" y="1002241"/>
            <a:ext cx="2466975" cy="1847850"/>
          </a:xfrm>
          <a:prstGeom prst="rect">
            <a:avLst/>
          </a:prstGeom>
        </p:spPr>
      </p:pic>
      <p:pic>
        <p:nvPicPr>
          <p:cNvPr id="7" name="Picture 6" descr="A bowl of food with fruit&#10;&#10;Description automatically generated">
            <a:extLst>
              <a:ext uri="{FF2B5EF4-FFF2-40B4-BE49-F238E27FC236}">
                <a16:creationId xmlns:a16="http://schemas.microsoft.com/office/drawing/2014/main" id="{0DD764FA-A319-561E-1296-1C32A7818C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403" b="330"/>
          <a:stretch/>
        </p:blipFill>
        <p:spPr>
          <a:xfrm>
            <a:off x="9271000" y="3426883"/>
            <a:ext cx="2465923" cy="1856339"/>
          </a:xfrm>
          <a:prstGeom prst="rect">
            <a:avLst/>
          </a:prstGeom>
        </p:spPr>
      </p:pic>
      <p:pic>
        <p:nvPicPr>
          <p:cNvPr id="9" name="Picture 8" descr="A plate of food with sauce&#10;&#10;Description automatically generated">
            <a:extLst>
              <a:ext uri="{FF2B5EF4-FFF2-40B4-BE49-F238E27FC236}">
                <a16:creationId xmlns:a16="http://schemas.microsoft.com/office/drawing/2014/main" id="{1FFF899A-8217-1BFE-1F9A-6AEBD684E9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903" r="4708" b="-1404"/>
          <a:stretch/>
        </p:blipFill>
        <p:spPr>
          <a:xfrm>
            <a:off x="6254751" y="4476751"/>
            <a:ext cx="2866827" cy="220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96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CA4EC59-B8A3-489A-9FB4-AA0699200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FD7FE-F12D-B420-931D-DD566F5B9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" b="1399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Freeform 15">
            <a:extLst>
              <a:ext uri="{FF2B5EF4-FFF2-40B4-BE49-F238E27FC236}">
                <a16:creationId xmlns:a16="http://schemas.microsoft.com/office/drawing/2014/main" id="{1143E968-E203-496D-A1AD-2EA10AB3E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3005669" y="-16933"/>
            <a:ext cx="9220200" cy="6891867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  <a:gd name="connsiteX0" fmla="*/ 8382001 w 10295468"/>
              <a:gd name="connsiteY0" fmla="*/ 8466 h 6883400"/>
              <a:gd name="connsiteX1" fmla="*/ 7738534 w 10295468"/>
              <a:gd name="connsiteY1" fmla="*/ 2573866 h 6883400"/>
              <a:gd name="connsiteX2" fmla="*/ 10295468 w 10295468"/>
              <a:gd name="connsiteY2" fmla="*/ 6874933 h 6883400"/>
              <a:gd name="connsiteX3" fmla="*/ 2954868 w 10295468"/>
              <a:gd name="connsiteY3" fmla="*/ 6883400 h 6883400"/>
              <a:gd name="connsiteX4" fmla="*/ 0 w 10295468"/>
              <a:gd name="connsiteY4" fmla="*/ 0 h 6883400"/>
              <a:gd name="connsiteX5" fmla="*/ 8382001 w 10295468"/>
              <a:gd name="connsiteY5" fmla="*/ 8466 h 6883400"/>
              <a:gd name="connsiteX0" fmla="*/ 8382001 w 10295468"/>
              <a:gd name="connsiteY0" fmla="*/ 8466 h 6891867"/>
              <a:gd name="connsiteX1" fmla="*/ 7738534 w 10295468"/>
              <a:gd name="connsiteY1" fmla="*/ 2573866 h 6891867"/>
              <a:gd name="connsiteX2" fmla="*/ 10295468 w 10295468"/>
              <a:gd name="connsiteY2" fmla="*/ 6874933 h 6891867"/>
              <a:gd name="connsiteX3" fmla="*/ 16935 w 10295468"/>
              <a:gd name="connsiteY3" fmla="*/ 6891867 h 6891867"/>
              <a:gd name="connsiteX4" fmla="*/ 0 w 10295468"/>
              <a:gd name="connsiteY4" fmla="*/ 0 h 6891867"/>
              <a:gd name="connsiteX5" fmla="*/ 8382001 w 10295468"/>
              <a:gd name="connsiteY5" fmla="*/ 8466 h 6891867"/>
              <a:gd name="connsiteX0" fmla="*/ 8382001 w 8382001"/>
              <a:gd name="connsiteY0" fmla="*/ 8466 h 6891867"/>
              <a:gd name="connsiteX1" fmla="*/ 7738534 w 8382001"/>
              <a:gd name="connsiteY1" fmla="*/ 2573866 h 6891867"/>
              <a:gd name="connsiteX2" fmla="*/ 7340602 w 8382001"/>
              <a:gd name="connsiteY2" fmla="*/ 6883400 h 6891867"/>
              <a:gd name="connsiteX3" fmla="*/ 16935 w 8382001"/>
              <a:gd name="connsiteY3" fmla="*/ 6891867 h 6891867"/>
              <a:gd name="connsiteX4" fmla="*/ 0 w 8382001"/>
              <a:gd name="connsiteY4" fmla="*/ 0 h 6891867"/>
              <a:gd name="connsiteX5" fmla="*/ 8382001 w 8382001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340602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298269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0200" h="6891867">
                <a:moveTo>
                  <a:pt x="8382001" y="8466"/>
                </a:moveTo>
                <a:lnTo>
                  <a:pt x="9220200" y="5350932"/>
                </a:lnTo>
                <a:lnTo>
                  <a:pt x="7298269" y="6883400"/>
                </a:lnTo>
                <a:lnTo>
                  <a:pt x="16935" y="6891867"/>
                </a:lnTo>
                <a:lnTo>
                  <a:pt x="0" y="0"/>
                </a:lnTo>
                <a:lnTo>
                  <a:pt x="8382001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B3444A-472E-400E-81D0-7CCDEEECC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B7E64D84-2392-46A1-99D2-C8FC063F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89352A95-1C82-4A0D-9B20-8AC7280C7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81B60E48-D617-4CF1-8900-497D49142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BFF6C14F-3347-46BB-A317-C1C12263E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CDD86299-6737-471C-98C5-872BDC681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60C6C46B-7841-473B-AC3A-9A69908AB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98DE2F-8098-52C1-E7B1-D008D6CA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867" y="558800"/>
            <a:ext cx="7535333" cy="1413933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Festivals and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C21E7-D17D-5EA4-AF2B-AF6020298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333" y="243098"/>
            <a:ext cx="7532156" cy="7500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Barcelona Beach Festival:</a:t>
            </a:r>
          </a:p>
          <a:p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An electronic music festival which is held annually.</a:t>
            </a:r>
          </a:p>
          <a:p>
            <a:pPr>
              <a:buClr>
                <a:srgbClr val="C87D0E"/>
              </a:buClr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It is organized by Live Nation, and it is estimated that more than 70,000 people attend annually.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It is one of the biggest music festivals in Spain. </a:t>
            </a:r>
          </a:p>
        </p:txBody>
      </p:sp>
    </p:spTree>
    <p:extLst>
      <p:ext uri="{BB962C8B-B14F-4D97-AF65-F5344CB8AC3E}">
        <p14:creationId xmlns:p14="http://schemas.microsoft.com/office/powerpoint/2010/main" val="23276062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CD612-B328-14B7-1324-A92CE8B61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B1C357-4824-E0BD-5A5A-E27F5F62B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8544D2-1502-C14C-437B-81438F3AD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Freeform 15">
            <a:extLst>
              <a:ext uri="{FF2B5EF4-FFF2-40B4-BE49-F238E27FC236}">
                <a16:creationId xmlns:a16="http://schemas.microsoft.com/office/drawing/2014/main" id="{BD4472EE-024F-A82F-0B2A-99690AD99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3005669" y="-16933"/>
            <a:ext cx="9220200" cy="6891867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  <a:gd name="connsiteX0" fmla="*/ 8382001 w 10295468"/>
              <a:gd name="connsiteY0" fmla="*/ 8466 h 6883400"/>
              <a:gd name="connsiteX1" fmla="*/ 7738534 w 10295468"/>
              <a:gd name="connsiteY1" fmla="*/ 2573866 h 6883400"/>
              <a:gd name="connsiteX2" fmla="*/ 10295468 w 10295468"/>
              <a:gd name="connsiteY2" fmla="*/ 6874933 h 6883400"/>
              <a:gd name="connsiteX3" fmla="*/ 2954868 w 10295468"/>
              <a:gd name="connsiteY3" fmla="*/ 6883400 h 6883400"/>
              <a:gd name="connsiteX4" fmla="*/ 0 w 10295468"/>
              <a:gd name="connsiteY4" fmla="*/ 0 h 6883400"/>
              <a:gd name="connsiteX5" fmla="*/ 8382001 w 10295468"/>
              <a:gd name="connsiteY5" fmla="*/ 8466 h 6883400"/>
              <a:gd name="connsiteX0" fmla="*/ 8382001 w 10295468"/>
              <a:gd name="connsiteY0" fmla="*/ 8466 h 6891867"/>
              <a:gd name="connsiteX1" fmla="*/ 7738534 w 10295468"/>
              <a:gd name="connsiteY1" fmla="*/ 2573866 h 6891867"/>
              <a:gd name="connsiteX2" fmla="*/ 10295468 w 10295468"/>
              <a:gd name="connsiteY2" fmla="*/ 6874933 h 6891867"/>
              <a:gd name="connsiteX3" fmla="*/ 16935 w 10295468"/>
              <a:gd name="connsiteY3" fmla="*/ 6891867 h 6891867"/>
              <a:gd name="connsiteX4" fmla="*/ 0 w 10295468"/>
              <a:gd name="connsiteY4" fmla="*/ 0 h 6891867"/>
              <a:gd name="connsiteX5" fmla="*/ 8382001 w 10295468"/>
              <a:gd name="connsiteY5" fmla="*/ 8466 h 6891867"/>
              <a:gd name="connsiteX0" fmla="*/ 8382001 w 8382001"/>
              <a:gd name="connsiteY0" fmla="*/ 8466 h 6891867"/>
              <a:gd name="connsiteX1" fmla="*/ 7738534 w 8382001"/>
              <a:gd name="connsiteY1" fmla="*/ 2573866 h 6891867"/>
              <a:gd name="connsiteX2" fmla="*/ 7340602 w 8382001"/>
              <a:gd name="connsiteY2" fmla="*/ 6883400 h 6891867"/>
              <a:gd name="connsiteX3" fmla="*/ 16935 w 8382001"/>
              <a:gd name="connsiteY3" fmla="*/ 6891867 h 6891867"/>
              <a:gd name="connsiteX4" fmla="*/ 0 w 8382001"/>
              <a:gd name="connsiteY4" fmla="*/ 0 h 6891867"/>
              <a:gd name="connsiteX5" fmla="*/ 8382001 w 8382001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340602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298269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0200" h="6891867">
                <a:moveTo>
                  <a:pt x="8382001" y="8466"/>
                </a:moveTo>
                <a:lnTo>
                  <a:pt x="9220200" y="5350932"/>
                </a:lnTo>
                <a:lnTo>
                  <a:pt x="7298269" y="6883400"/>
                </a:lnTo>
                <a:lnTo>
                  <a:pt x="16935" y="6891867"/>
                </a:lnTo>
                <a:lnTo>
                  <a:pt x="0" y="0"/>
                </a:lnTo>
                <a:lnTo>
                  <a:pt x="8382001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B890E6-1BED-DD44-FEC3-E437D4C29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5016F59E-EAF4-3FF2-9038-B73AD144B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8ED5880C-1B9C-B1C6-C4C4-84DF075D35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FE33476E-2546-6318-5AC7-03A0ACB25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2705F7A-1A42-0719-9C1D-25545864F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D45A0BC-8EC6-0001-9B8C-69F5E585B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646A443-0941-857A-BD40-DA59D1832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18CF8F-AE7C-4504-1454-2F9204C4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1059" y="318718"/>
            <a:ext cx="8714867" cy="2123741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Festivals and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4CC16-28CF-932D-6B49-D0493D95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059" y="1130357"/>
            <a:ext cx="7532156" cy="5339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La </a:t>
            </a:r>
            <a:r>
              <a:rPr lang="en-CA" sz="2800" b="1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Mercè</a:t>
            </a:r>
            <a:r>
              <a:rPr lang="en-CA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Festival:</a:t>
            </a:r>
          </a:p>
          <a:p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Every year close to the end of September Barcelona holds its largest street party, the Barcelona La </a:t>
            </a:r>
            <a:r>
              <a:rPr lang="en-US" sz="2800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Mercè</a:t>
            </a: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Festival.</a:t>
            </a:r>
          </a:p>
          <a:p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Barcelona La </a:t>
            </a:r>
            <a:r>
              <a:rPr lang="en-US" sz="2800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Mercè</a:t>
            </a: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lasts for around 5 days and is a festival held in </a:t>
            </a:r>
            <a:r>
              <a:rPr lang="en-US" sz="2800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honour</a:t>
            </a: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of the Patron Saint of Barcelona.</a:t>
            </a:r>
            <a:endParaRPr lang="en-CA" sz="28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15689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3CFE5-A3D7-DC76-80B1-AF4F4252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33FB72C-4E30-1364-87B2-AE05CFC26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095A4D-8A0B-469D-22BD-D9FB9B15C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Freeform 15">
            <a:extLst>
              <a:ext uri="{FF2B5EF4-FFF2-40B4-BE49-F238E27FC236}">
                <a16:creationId xmlns:a16="http://schemas.microsoft.com/office/drawing/2014/main" id="{1A351016-C0BA-0E25-48DB-A566CF1B7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3005669" y="-16933"/>
            <a:ext cx="9220200" cy="6891867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  <a:gd name="connsiteX0" fmla="*/ 8382001 w 10295468"/>
              <a:gd name="connsiteY0" fmla="*/ 8466 h 6883400"/>
              <a:gd name="connsiteX1" fmla="*/ 7738534 w 10295468"/>
              <a:gd name="connsiteY1" fmla="*/ 2573866 h 6883400"/>
              <a:gd name="connsiteX2" fmla="*/ 10295468 w 10295468"/>
              <a:gd name="connsiteY2" fmla="*/ 6874933 h 6883400"/>
              <a:gd name="connsiteX3" fmla="*/ 2954868 w 10295468"/>
              <a:gd name="connsiteY3" fmla="*/ 6883400 h 6883400"/>
              <a:gd name="connsiteX4" fmla="*/ 0 w 10295468"/>
              <a:gd name="connsiteY4" fmla="*/ 0 h 6883400"/>
              <a:gd name="connsiteX5" fmla="*/ 8382001 w 10295468"/>
              <a:gd name="connsiteY5" fmla="*/ 8466 h 6883400"/>
              <a:gd name="connsiteX0" fmla="*/ 8382001 w 10295468"/>
              <a:gd name="connsiteY0" fmla="*/ 8466 h 6891867"/>
              <a:gd name="connsiteX1" fmla="*/ 7738534 w 10295468"/>
              <a:gd name="connsiteY1" fmla="*/ 2573866 h 6891867"/>
              <a:gd name="connsiteX2" fmla="*/ 10295468 w 10295468"/>
              <a:gd name="connsiteY2" fmla="*/ 6874933 h 6891867"/>
              <a:gd name="connsiteX3" fmla="*/ 16935 w 10295468"/>
              <a:gd name="connsiteY3" fmla="*/ 6891867 h 6891867"/>
              <a:gd name="connsiteX4" fmla="*/ 0 w 10295468"/>
              <a:gd name="connsiteY4" fmla="*/ 0 h 6891867"/>
              <a:gd name="connsiteX5" fmla="*/ 8382001 w 10295468"/>
              <a:gd name="connsiteY5" fmla="*/ 8466 h 6891867"/>
              <a:gd name="connsiteX0" fmla="*/ 8382001 w 8382001"/>
              <a:gd name="connsiteY0" fmla="*/ 8466 h 6891867"/>
              <a:gd name="connsiteX1" fmla="*/ 7738534 w 8382001"/>
              <a:gd name="connsiteY1" fmla="*/ 2573866 h 6891867"/>
              <a:gd name="connsiteX2" fmla="*/ 7340602 w 8382001"/>
              <a:gd name="connsiteY2" fmla="*/ 6883400 h 6891867"/>
              <a:gd name="connsiteX3" fmla="*/ 16935 w 8382001"/>
              <a:gd name="connsiteY3" fmla="*/ 6891867 h 6891867"/>
              <a:gd name="connsiteX4" fmla="*/ 0 w 8382001"/>
              <a:gd name="connsiteY4" fmla="*/ 0 h 6891867"/>
              <a:gd name="connsiteX5" fmla="*/ 8382001 w 8382001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340602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298269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0200" h="6891867">
                <a:moveTo>
                  <a:pt x="8382001" y="8466"/>
                </a:moveTo>
                <a:lnTo>
                  <a:pt x="9220200" y="5350932"/>
                </a:lnTo>
                <a:lnTo>
                  <a:pt x="7298269" y="6883400"/>
                </a:lnTo>
                <a:lnTo>
                  <a:pt x="16935" y="6891867"/>
                </a:lnTo>
                <a:lnTo>
                  <a:pt x="0" y="0"/>
                </a:lnTo>
                <a:lnTo>
                  <a:pt x="8382001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E0D60A-C22C-4C6D-9FDA-33EF0CD04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8943CF-8CDD-1EDA-7323-D2DA1A376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171BCAE-FB98-995B-4D7E-85D9A2407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8FF0942F-A785-DE9D-9283-B8BEA141F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AE67632D-BACB-6C80-92B3-3205A8DE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C5AA3749-602C-50F7-D6BD-F314C8CC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8163F0B-23B2-D396-5718-C0A85D70F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2B1B21-8E99-B317-0692-E40B2173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867" y="558800"/>
            <a:ext cx="7535333" cy="1413933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Festivals and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372-597F-1E44-178A-99032D939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867" y="2184632"/>
            <a:ext cx="7532156" cy="37422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CA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Sant Jordi's Day:</a:t>
            </a:r>
          </a:p>
          <a:p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Sant Jordi's Day is celebrated annually on April 23.</a:t>
            </a:r>
          </a:p>
          <a:p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In Catalonia, the main activity is the exchange of roses and books between sweethearts, loved ones and colleagues.</a:t>
            </a:r>
          </a:p>
          <a:p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From the 1920's, men gave women roses, and women gave men a book to celebrate the occasion</a:t>
            </a:r>
            <a:endParaRPr lang="en-CA" sz="28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07905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A4EC59-B8A3-489A-9FB4-AA0699200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oup of people standing in front of a fountain&#10;&#10;Description automatically generated">
            <a:extLst>
              <a:ext uri="{FF2B5EF4-FFF2-40B4-BE49-F238E27FC236}">
                <a16:creationId xmlns:a16="http://schemas.microsoft.com/office/drawing/2014/main" id="{F0FE48BE-88A1-CEE7-736B-25E502D0B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2" b="150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9" name="Freeform 15">
            <a:extLst>
              <a:ext uri="{FF2B5EF4-FFF2-40B4-BE49-F238E27FC236}">
                <a16:creationId xmlns:a16="http://schemas.microsoft.com/office/drawing/2014/main" id="{1143E968-E203-496D-A1AD-2EA10AB3E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3005669" y="-16933"/>
            <a:ext cx="9220200" cy="6891867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  <a:gd name="connsiteX0" fmla="*/ 8382001 w 10295468"/>
              <a:gd name="connsiteY0" fmla="*/ 8466 h 6883400"/>
              <a:gd name="connsiteX1" fmla="*/ 7738534 w 10295468"/>
              <a:gd name="connsiteY1" fmla="*/ 2573866 h 6883400"/>
              <a:gd name="connsiteX2" fmla="*/ 10295468 w 10295468"/>
              <a:gd name="connsiteY2" fmla="*/ 6874933 h 6883400"/>
              <a:gd name="connsiteX3" fmla="*/ 2954868 w 10295468"/>
              <a:gd name="connsiteY3" fmla="*/ 6883400 h 6883400"/>
              <a:gd name="connsiteX4" fmla="*/ 0 w 10295468"/>
              <a:gd name="connsiteY4" fmla="*/ 0 h 6883400"/>
              <a:gd name="connsiteX5" fmla="*/ 8382001 w 10295468"/>
              <a:gd name="connsiteY5" fmla="*/ 8466 h 6883400"/>
              <a:gd name="connsiteX0" fmla="*/ 8382001 w 10295468"/>
              <a:gd name="connsiteY0" fmla="*/ 8466 h 6891867"/>
              <a:gd name="connsiteX1" fmla="*/ 7738534 w 10295468"/>
              <a:gd name="connsiteY1" fmla="*/ 2573866 h 6891867"/>
              <a:gd name="connsiteX2" fmla="*/ 10295468 w 10295468"/>
              <a:gd name="connsiteY2" fmla="*/ 6874933 h 6891867"/>
              <a:gd name="connsiteX3" fmla="*/ 16935 w 10295468"/>
              <a:gd name="connsiteY3" fmla="*/ 6891867 h 6891867"/>
              <a:gd name="connsiteX4" fmla="*/ 0 w 10295468"/>
              <a:gd name="connsiteY4" fmla="*/ 0 h 6891867"/>
              <a:gd name="connsiteX5" fmla="*/ 8382001 w 10295468"/>
              <a:gd name="connsiteY5" fmla="*/ 8466 h 6891867"/>
              <a:gd name="connsiteX0" fmla="*/ 8382001 w 8382001"/>
              <a:gd name="connsiteY0" fmla="*/ 8466 h 6891867"/>
              <a:gd name="connsiteX1" fmla="*/ 7738534 w 8382001"/>
              <a:gd name="connsiteY1" fmla="*/ 2573866 h 6891867"/>
              <a:gd name="connsiteX2" fmla="*/ 7340602 w 8382001"/>
              <a:gd name="connsiteY2" fmla="*/ 6883400 h 6891867"/>
              <a:gd name="connsiteX3" fmla="*/ 16935 w 8382001"/>
              <a:gd name="connsiteY3" fmla="*/ 6891867 h 6891867"/>
              <a:gd name="connsiteX4" fmla="*/ 0 w 8382001"/>
              <a:gd name="connsiteY4" fmla="*/ 0 h 6891867"/>
              <a:gd name="connsiteX5" fmla="*/ 8382001 w 8382001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340602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298269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0200" h="6891867">
                <a:moveTo>
                  <a:pt x="8382001" y="8466"/>
                </a:moveTo>
                <a:lnTo>
                  <a:pt x="9220200" y="5350932"/>
                </a:lnTo>
                <a:lnTo>
                  <a:pt x="7298269" y="6883400"/>
                </a:lnTo>
                <a:lnTo>
                  <a:pt x="16935" y="6891867"/>
                </a:lnTo>
                <a:lnTo>
                  <a:pt x="0" y="0"/>
                </a:lnTo>
                <a:lnTo>
                  <a:pt x="8382001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BB3444A-472E-400E-81D0-7CCDEEECC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B7E64D84-2392-46A1-99D2-C8FC063F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89352A95-1C82-4A0D-9B20-8AC7280C7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81B60E48-D617-4CF1-8900-497D49142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BFF6C14F-3347-46BB-A317-C1C12263E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CDD86299-6737-471C-98C5-872BDC681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60C6C46B-7841-473B-AC3A-9A69908AB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3A2FA4-1BA2-F70C-3639-8650540C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867" y="558800"/>
            <a:ext cx="7535333" cy="1413933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Activities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55F6E7-38F3-51F6-3F1D-9C17F1ED7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867" y="2048933"/>
            <a:ext cx="7532156" cy="374226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Magic Fountain:</a:t>
            </a:r>
          </a:p>
          <a:p>
            <a:r>
              <a:rPr lang="en-US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The largest fountain of Barcelona</a:t>
            </a:r>
          </a:p>
          <a:p>
            <a:pPr>
              <a:buClr>
                <a:srgbClr val="C87D0E"/>
              </a:buClr>
            </a:pPr>
            <a:r>
              <a:rPr lang="en-US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See the spectacular dancing fountain show with music, water acrobatics, and light.</a:t>
            </a:r>
          </a:p>
          <a:p>
            <a:pPr>
              <a:buClr>
                <a:srgbClr val="C87D0E"/>
              </a:buClr>
            </a:pPr>
            <a:r>
              <a:rPr lang="en-US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 Special thing: tourist  can visit the show for free. There is no charges for anyone.</a:t>
            </a:r>
          </a:p>
          <a:p>
            <a:pPr>
              <a:buClr>
                <a:srgbClr val="C87D0E"/>
              </a:buClr>
            </a:pPr>
            <a:r>
              <a:rPr lang="en-US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Recommendations: to visit it during the night</a:t>
            </a:r>
          </a:p>
          <a:p>
            <a:pPr>
              <a:buClr>
                <a:srgbClr val="C87D0E"/>
              </a:buClr>
            </a:pPr>
            <a:endParaRPr lang="en-US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0" indent="0">
              <a:buClr>
                <a:srgbClr val="F0A22E">
                  <a:lumMod val="75000"/>
                </a:srgbClr>
              </a:buClr>
              <a:buNone/>
            </a:pPr>
            <a:endParaRPr lang="en-US" dirty="0">
              <a:solidFill>
                <a:schemeClr val="bg1"/>
              </a:solidFill>
              <a:latin typeface="Corbel" panose="020B0503020204020204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82057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9C7EC-E947-CB35-9441-5B85ED1D5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CA4EC59-B8A3-489A-9FB4-AA0699200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oup of buildings with palm trees with Park Güell in the background&#10;&#10;Description automatically generated">
            <a:extLst>
              <a:ext uri="{FF2B5EF4-FFF2-40B4-BE49-F238E27FC236}">
                <a16:creationId xmlns:a16="http://schemas.microsoft.com/office/drawing/2014/main" id="{C20CB004-ACFA-ABB6-E600-0E944A382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7" b="499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2" name="Freeform 15">
            <a:extLst>
              <a:ext uri="{FF2B5EF4-FFF2-40B4-BE49-F238E27FC236}">
                <a16:creationId xmlns:a16="http://schemas.microsoft.com/office/drawing/2014/main" id="{1143E968-E203-496D-A1AD-2EA10AB3E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3005669" y="-16933"/>
            <a:ext cx="9220200" cy="6891867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  <a:gd name="connsiteX0" fmla="*/ 8382001 w 10295468"/>
              <a:gd name="connsiteY0" fmla="*/ 8466 h 6883400"/>
              <a:gd name="connsiteX1" fmla="*/ 7738534 w 10295468"/>
              <a:gd name="connsiteY1" fmla="*/ 2573866 h 6883400"/>
              <a:gd name="connsiteX2" fmla="*/ 10295468 w 10295468"/>
              <a:gd name="connsiteY2" fmla="*/ 6874933 h 6883400"/>
              <a:gd name="connsiteX3" fmla="*/ 2954868 w 10295468"/>
              <a:gd name="connsiteY3" fmla="*/ 6883400 h 6883400"/>
              <a:gd name="connsiteX4" fmla="*/ 0 w 10295468"/>
              <a:gd name="connsiteY4" fmla="*/ 0 h 6883400"/>
              <a:gd name="connsiteX5" fmla="*/ 8382001 w 10295468"/>
              <a:gd name="connsiteY5" fmla="*/ 8466 h 6883400"/>
              <a:gd name="connsiteX0" fmla="*/ 8382001 w 10295468"/>
              <a:gd name="connsiteY0" fmla="*/ 8466 h 6891867"/>
              <a:gd name="connsiteX1" fmla="*/ 7738534 w 10295468"/>
              <a:gd name="connsiteY1" fmla="*/ 2573866 h 6891867"/>
              <a:gd name="connsiteX2" fmla="*/ 10295468 w 10295468"/>
              <a:gd name="connsiteY2" fmla="*/ 6874933 h 6891867"/>
              <a:gd name="connsiteX3" fmla="*/ 16935 w 10295468"/>
              <a:gd name="connsiteY3" fmla="*/ 6891867 h 6891867"/>
              <a:gd name="connsiteX4" fmla="*/ 0 w 10295468"/>
              <a:gd name="connsiteY4" fmla="*/ 0 h 6891867"/>
              <a:gd name="connsiteX5" fmla="*/ 8382001 w 10295468"/>
              <a:gd name="connsiteY5" fmla="*/ 8466 h 6891867"/>
              <a:gd name="connsiteX0" fmla="*/ 8382001 w 8382001"/>
              <a:gd name="connsiteY0" fmla="*/ 8466 h 6891867"/>
              <a:gd name="connsiteX1" fmla="*/ 7738534 w 8382001"/>
              <a:gd name="connsiteY1" fmla="*/ 2573866 h 6891867"/>
              <a:gd name="connsiteX2" fmla="*/ 7340602 w 8382001"/>
              <a:gd name="connsiteY2" fmla="*/ 6883400 h 6891867"/>
              <a:gd name="connsiteX3" fmla="*/ 16935 w 8382001"/>
              <a:gd name="connsiteY3" fmla="*/ 6891867 h 6891867"/>
              <a:gd name="connsiteX4" fmla="*/ 0 w 8382001"/>
              <a:gd name="connsiteY4" fmla="*/ 0 h 6891867"/>
              <a:gd name="connsiteX5" fmla="*/ 8382001 w 8382001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340602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298269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0200" h="6891867">
                <a:moveTo>
                  <a:pt x="8382001" y="8466"/>
                </a:moveTo>
                <a:lnTo>
                  <a:pt x="9220200" y="5350932"/>
                </a:lnTo>
                <a:lnTo>
                  <a:pt x="7298269" y="6883400"/>
                </a:lnTo>
                <a:lnTo>
                  <a:pt x="16935" y="6891867"/>
                </a:lnTo>
                <a:lnTo>
                  <a:pt x="0" y="0"/>
                </a:lnTo>
                <a:lnTo>
                  <a:pt x="8382001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B3444A-472E-400E-81D0-7CCDEEECC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B7E64D84-2392-46A1-99D2-C8FC063F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89352A95-1C82-4A0D-9B20-8AC7280C7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 8">
              <a:extLst>
                <a:ext uri="{FF2B5EF4-FFF2-40B4-BE49-F238E27FC236}">
                  <a16:creationId xmlns:a16="http://schemas.microsoft.com/office/drawing/2014/main" id="{81B60E48-D617-4CF1-8900-497D49142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FF6C14F-3347-46BB-A317-C1C12263E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CDD86299-6737-471C-98C5-872BDC681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60C6C46B-7841-473B-AC3A-9A69908AB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2282B8-A843-F431-000E-2795B9A77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867" y="-2117"/>
            <a:ext cx="7535333" cy="1413933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Activities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3ED36D-3D70-BA62-3CB5-F5A0D34D1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1950" y="1371600"/>
            <a:ext cx="7532156" cy="54779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Gaudi Park:</a:t>
            </a:r>
          </a:p>
          <a:p>
            <a:pPr>
              <a:buClr>
                <a:srgbClr val="C87D0E"/>
              </a:buClr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Before 2023, you do not have to pay for the tickets, but it is not free anymore.</a:t>
            </a:r>
          </a:p>
          <a:p>
            <a:pPr>
              <a:buClr>
                <a:srgbClr val="C87D0E"/>
              </a:buClr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You can visit the Sala </a:t>
            </a:r>
            <a:r>
              <a:rPr lang="en-US" sz="2800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Hipòstila</a:t>
            </a: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, where the ceiling has small domes decorated with mosaics.</a:t>
            </a:r>
          </a:p>
          <a:p>
            <a:pPr>
              <a:buClr>
                <a:srgbClr val="C87D0E"/>
              </a:buClr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Austrian Gardens area where you can see different types of tree.</a:t>
            </a:r>
          </a:p>
          <a:p>
            <a:pPr>
              <a:buClr>
                <a:srgbClr val="C87D0E"/>
              </a:buClr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Fun Fact: most them are donated by the general public</a:t>
            </a:r>
          </a:p>
          <a:p>
            <a:pPr>
              <a:buClr>
                <a:srgbClr val="C87D0E"/>
              </a:buClr>
            </a:pPr>
            <a:endParaRPr lang="en-US" sz="1100" dirty="0">
              <a:solidFill>
                <a:srgbClr val="7F888F"/>
              </a:solidFill>
              <a:latin typeface="Open Sans"/>
              <a:ea typeface="Open Sans"/>
              <a:cs typeface="Open Sans"/>
            </a:endParaRPr>
          </a:p>
          <a:p>
            <a:pPr>
              <a:buClr>
                <a:srgbClr val="C87D0E"/>
              </a:buClr>
            </a:pPr>
            <a:endParaRPr lang="en-US" sz="1100" dirty="0">
              <a:solidFill>
                <a:srgbClr val="7F888F"/>
              </a:solidFill>
              <a:latin typeface="Open Sans"/>
              <a:ea typeface="Open Sans"/>
              <a:cs typeface="Open Sans"/>
            </a:endParaRPr>
          </a:p>
          <a:p>
            <a:pPr>
              <a:buClr>
                <a:srgbClr val="C87D0E"/>
              </a:buClr>
            </a:pPr>
            <a:endParaRPr lang="en-US" dirty="0">
              <a:solidFill>
                <a:srgbClr val="FFFFFF"/>
              </a:solidFill>
              <a:latin typeface="Corbel" panose="020B0503020204020204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96332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0602B-76F0-C3C1-3293-505196AE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A4EC59-B8A3-489A-9FB4-AA0699200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uilding with a sign on it&#10;&#10;Description automatically generated">
            <a:extLst>
              <a:ext uri="{FF2B5EF4-FFF2-40B4-BE49-F238E27FC236}">
                <a16:creationId xmlns:a16="http://schemas.microsoft.com/office/drawing/2014/main" id="{DD090649-0A1A-2559-7396-2BD0FFB35A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22" b="530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Freeform 15">
            <a:extLst>
              <a:ext uri="{FF2B5EF4-FFF2-40B4-BE49-F238E27FC236}">
                <a16:creationId xmlns:a16="http://schemas.microsoft.com/office/drawing/2014/main" id="{1143E968-E203-496D-A1AD-2EA10AB3E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3005669" y="-16933"/>
            <a:ext cx="9220200" cy="6891867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  <a:gd name="connsiteX0" fmla="*/ 8382001 w 10295468"/>
              <a:gd name="connsiteY0" fmla="*/ 8466 h 6883400"/>
              <a:gd name="connsiteX1" fmla="*/ 7738534 w 10295468"/>
              <a:gd name="connsiteY1" fmla="*/ 2573866 h 6883400"/>
              <a:gd name="connsiteX2" fmla="*/ 10295468 w 10295468"/>
              <a:gd name="connsiteY2" fmla="*/ 6874933 h 6883400"/>
              <a:gd name="connsiteX3" fmla="*/ 2954868 w 10295468"/>
              <a:gd name="connsiteY3" fmla="*/ 6883400 h 6883400"/>
              <a:gd name="connsiteX4" fmla="*/ 0 w 10295468"/>
              <a:gd name="connsiteY4" fmla="*/ 0 h 6883400"/>
              <a:gd name="connsiteX5" fmla="*/ 8382001 w 10295468"/>
              <a:gd name="connsiteY5" fmla="*/ 8466 h 6883400"/>
              <a:gd name="connsiteX0" fmla="*/ 8382001 w 10295468"/>
              <a:gd name="connsiteY0" fmla="*/ 8466 h 6891867"/>
              <a:gd name="connsiteX1" fmla="*/ 7738534 w 10295468"/>
              <a:gd name="connsiteY1" fmla="*/ 2573866 h 6891867"/>
              <a:gd name="connsiteX2" fmla="*/ 10295468 w 10295468"/>
              <a:gd name="connsiteY2" fmla="*/ 6874933 h 6891867"/>
              <a:gd name="connsiteX3" fmla="*/ 16935 w 10295468"/>
              <a:gd name="connsiteY3" fmla="*/ 6891867 h 6891867"/>
              <a:gd name="connsiteX4" fmla="*/ 0 w 10295468"/>
              <a:gd name="connsiteY4" fmla="*/ 0 h 6891867"/>
              <a:gd name="connsiteX5" fmla="*/ 8382001 w 10295468"/>
              <a:gd name="connsiteY5" fmla="*/ 8466 h 6891867"/>
              <a:gd name="connsiteX0" fmla="*/ 8382001 w 8382001"/>
              <a:gd name="connsiteY0" fmla="*/ 8466 h 6891867"/>
              <a:gd name="connsiteX1" fmla="*/ 7738534 w 8382001"/>
              <a:gd name="connsiteY1" fmla="*/ 2573866 h 6891867"/>
              <a:gd name="connsiteX2" fmla="*/ 7340602 w 8382001"/>
              <a:gd name="connsiteY2" fmla="*/ 6883400 h 6891867"/>
              <a:gd name="connsiteX3" fmla="*/ 16935 w 8382001"/>
              <a:gd name="connsiteY3" fmla="*/ 6891867 h 6891867"/>
              <a:gd name="connsiteX4" fmla="*/ 0 w 8382001"/>
              <a:gd name="connsiteY4" fmla="*/ 0 h 6891867"/>
              <a:gd name="connsiteX5" fmla="*/ 8382001 w 8382001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340602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298269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0200" h="6891867">
                <a:moveTo>
                  <a:pt x="8382001" y="8466"/>
                </a:moveTo>
                <a:lnTo>
                  <a:pt x="9220200" y="5350932"/>
                </a:lnTo>
                <a:lnTo>
                  <a:pt x="7298269" y="6883400"/>
                </a:lnTo>
                <a:lnTo>
                  <a:pt x="16935" y="6891867"/>
                </a:lnTo>
                <a:lnTo>
                  <a:pt x="0" y="0"/>
                </a:lnTo>
                <a:lnTo>
                  <a:pt x="8382001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BB3444A-472E-400E-81D0-7CCDEEECC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7E64D84-2392-46A1-99D2-C8FC063F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89352A95-1C82-4A0D-9B20-8AC7280C7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1B60E48-D617-4CF1-8900-497D49142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BFF6C14F-3347-46BB-A317-C1C12263E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CDD86299-6737-471C-98C5-872BDC681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60C6C46B-7841-473B-AC3A-9A69908AB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C9BEC82-B9EC-EC92-B5AA-89FCEC1BB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867" y="-4871"/>
            <a:ext cx="7535333" cy="1413933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Activities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CADEACD-53C5-F9B6-8A12-2F53E61DF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525" y="1349563"/>
            <a:ext cx="7532156" cy="5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La </a:t>
            </a:r>
            <a:r>
              <a:rPr lang="en-US" sz="2800" b="1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Boqueria</a:t>
            </a:r>
            <a:r>
              <a:rPr lang="en-US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Market:</a:t>
            </a:r>
          </a:p>
          <a:p>
            <a:pPr>
              <a:buClr>
                <a:srgbClr val="C87D0E"/>
              </a:buClr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Name meaning:  place where </a:t>
            </a:r>
            <a:r>
              <a:rPr lang="en-US" sz="2800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billy</a:t>
            </a: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goat meat was sold.</a:t>
            </a:r>
          </a:p>
          <a:p>
            <a:pPr>
              <a:buClr>
                <a:srgbClr val="C87D0E"/>
              </a:buClr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You can buy meat dishes and fruits.</a:t>
            </a:r>
          </a:p>
          <a:p>
            <a:pPr>
              <a:buClr>
                <a:srgbClr val="C87D0E"/>
              </a:buClr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Tip: Don’t buy everything at the first stall you see. Prices at the entrance are higher than those in the central shops.</a:t>
            </a:r>
          </a:p>
          <a:p>
            <a:pPr>
              <a:buClr>
                <a:srgbClr val="C87D0E"/>
              </a:buClr>
            </a:pPr>
            <a:r>
              <a:rPr lang="en-US" sz="28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It always closes on Sundays.</a:t>
            </a:r>
          </a:p>
          <a:p>
            <a:pPr>
              <a:buClr>
                <a:srgbClr val="C87D0E"/>
              </a:buClr>
            </a:pPr>
            <a:endParaRPr lang="en-US" sz="1100" dirty="0">
              <a:solidFill>
                <a:srgbClr val="7F888F"/>
              </a:solidFill>
              <a:latin typeface="Open Sans"/>
              <a:ea typeface="Open Sans"/>
              <a:cs typeface="Open Sans"/>
            </a:endParaRPr>
          </a:p>
          <a:p>
            <a:pPr>
              <a:buClr>
                <a:srgbClr val="C87D0E"/>
              </a:buClr>
            </a:pPr>
            <a:endParaRPr lang="en-U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87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statues with face masks with Casa Milà in the background&#10;&#10;Description automatically generated">
            <a:extLst>
              <a:ext uri="{FF2B5EF4-FFF2-40B4-BE49-F238E27FC236}">
                <a16:creationId xmlns:a16="http://schemas.microsoft.com/office/drawing/2014/main" id="{BFEBA0F6-50AE-C1A3-0100-49ED93D18DD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6" b="1862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2A3E3A-0B00-5586-EE1C-55B9B803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3888" y="639099"/>
            <a:ext cx="4532396" cy="4965833"/>
          </a:xfrm>
        </p:spPr>
        <p:txBody>
          <a:bodyPr>
            <a:normAutofit/>
          </a:bodyPr>
          <a:lstStyle/>
          <a:p>
            <a:pPr algn="r"/>
            <a:r>
              <a:rPr lang="en-CA" sz="4400" b="1">
                <a:latin typeface="Tahoma"/>
                <a:ea typeface="Tahoma"/>
                <a:cs typeface="Tahoma"/>
              </a:rPr>
              <a:t>Summary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78FF8B-3743-48E1-88E3-F4CADB3DE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06171"/>
            <a:ext cx="0" cy="34316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5E87D-56C3-70E8-30CD-1B6E9701C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809" y="639099"/>
            <a:ext cx="6591346" cy="4965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800" b="1" dirty="0">
                <a:latin typeface="Tahoma"/>
                <a:ea typeface="Tahoma"/>
                <a:cs typeface="Tahoma"/>
              </a:rPr>
              <a:t>Why Choose Barcelona?</a:t>
            </a:r>
          </a:p>
          <a:p>
            <a:r>
              <a:rPr lang="en-US" sz="2800" dirty="0">
                <a:latin typeface="Tahoma"/>
                <a:ea typeface="Tahoma"/>
                <a:cs typeface="Tahoma"/>
              </a:rPr>
              <a:t>Unique blend of history, culture, and fun.</a:t>
            </a:r>
          </a:p>
          <a:p>
            <a:r>
              <a:rPr lang="en-US" sz="2800" dirty="0">
                <a:latin typeface="Tahoma"/>
                <a:ea typeface="Tahoma"/>
                <a:cs typeface="Tahoma"/>
              </a:rPr>
              <a:t>Offers something for everyone, from foodies to art lovers.</a:t>
            </a:r>
          </a:p>
          <a:p>
            <a:pPr marL="0" indent="0">
              <a:buNone/>
            </a:pPr>
            <a:r>
              <a:rPr lang="en-US" sz="2800" dirty="0">
                <a:latin typeface="Tahoma"/>
                <a:ea typeface="Tahoma"/>
                <a:cs typeface="Tahoma"/>
              </a:rPr>
              <a:t>So, book your flight and visit Barcelona next summer!</a:t>
            </a:r>
            <a:endParaRPr lang="en-CA" sz="2800" dirty="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830991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light shining through a dome">
            <a:extLst>
              <a:ext uri="{FF2B5EF4-FFF2-40B4-BE49-F238E27FC236}">
                <a16:creationId xmlns:a16="http://schemas.microsoft.com/office/drawing/2014/main" id="{7572CF22-8552-E473-007D-DB13C03CF3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6" b="12135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A83C7C-7B42-175F-E8D0-885C5788E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 anchor="b">
            <a:normAutofit/>
          </a:bodyPr>
          <a:lstStyle/>
          <a:p>
            <a:pPr algn="l"/>
            <a:r>
              <a:rPr lang="en-CA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156463-7AAD-8123-D23C-B7E410478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402" y="2666999"/>
            <a:ext cx="4905255" cy="3124201"/>
          </a:xfrm>
        </p:spPr>
        <p:txBody>
          <a:bodyPr anchor="t">
            <a:normAutofit fontScale="55000" lnSpcReduction="20000"/>
          </a:bodyPr>
          <a:lstStyle/>
          <a:p>
            <a:r>
              <a:rPr lang="en-U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https://en.wikipedia.org/wiki/Barcelona</a:t>
            </a:r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https://en.wikipedia.org/wiki/Sagrada_Familia</a:t>
            </a:r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https://en.wikipedia.org/wiki/La_Barceloneta,_Barcelona</a:t>
            </a:r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https://en.wikipedia.org/wiki/Camp_Nou</a:t>
            </a:r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https://www.getyourguide.com/explorer/barcelona-ttd45/food-in-barcelona/</a:t>
            </a:r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https://www.barcrawlbarcelona.com/must-try-drinks-while-in-barcelona/</a:t>
            </a:r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https://www.celebritycruises.com/blog/barcelona-food#:~:text=Escalivada,-Escalivada&amp;text=A%20simple%20Catalan%20dish%20of,scattered%20with%20thyme%20and%20basil</a:t>
            </a:r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FF8C52E8-C503-5223-91E3-4655817AC4D7}"/>
              </a:ext>
            </a:extLst>
          </p:cNvPr>
          <p:cNvSpPr txBox="1">
            <a:spLocks/>
          </p:cNvSpPr>
          <p:nvPr/>
        </p:nvSpPr>
        <p:spPr>
          <a:xfrm>
            <a:off x="6493667" y="2666998"/>
            <a:ext cx="4826598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16B1915-F316-7549-6597-00B5049DF0DA}"/>
              </a:ext>
            </a:extLst>
          </p:cNvPr>
          <p:cNvSpPr txBox="1">
            <a:spLocks/>
          </p:cNvSpPr>
          <p:nvPr/>
        </p:nvSpPr>
        <p:spPr>
          <a:xfrm>
            <a:off x="6493667" y="2666998"/>
            <a:ext cx="4826598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7C0AF57D-0F90-0D4F-C0A8-1A4B6A0E41E2}"/>
              </a:ext>
            </a:extLst>
          </p:cNvPr>
          <p:cNvSpPr txBox="1">
            <a:spLocks/>
          </p:cNvSpPr>
          <p:nvPr/>
        </p:nvSpPr>
        <p:spPr>
          <a:xfrm>
            <a:off x="6493667" y="2438399"/>
            <a:ext cx="4826598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https://en.wikipedia.org/wiki/Barcelona_Beach_Festival</a:t>
            </a:r>
            <a:endParaRPr lang="en-US" sz="13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3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https://en.wikipedia.org/wiki/La_Merc%C3%A8</a:t>
            </a:r>
            <a:endParaRPr lang="en-US" sz="13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3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https://en.wikipedia.org/wiki/Saint_George%27s_Day_(Spain)</a:t>
            </a:r>
            <a:endParaRPr lang="en-US" sz="13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3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https://ticketshop.barcelona/magic-fountain.html</a:t>
            </a:r>
            <a:endParaRPr lang="en-US" sz="13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3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https://ticketshop.barcelona/park-guell.html</a:t>
            </a:r>
            <a:endParaRPr lang="en-US" sz="13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3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https://ticketshop.barcelona/boqueria-market.html</a:t>
            </a:r>
            <a:endParaRPr lang="en-US" sz="13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122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64080D6-34DE-4277-97CC-2FB381284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ench overlooking a city&#10;&#10;Description automatically generated">
            <a:extLst>
              <a:ext uri="{FF2B5EF4-FFF2-40B4-BE49-F238E27FC236}">
                <a16:creationId xmlns:a16="http://schemas.microsoft.com/office/drawing/2014/main" id="{D5ECD3FC-7FE5-7AE2-4542-5FAE8295DA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6" b="112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66EC2F-4010-E322-FD2C-E4BED157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401" y="1380068"/>
            <a:ext cx="8574622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1380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A28235DF1D1F4C8C5BC6DCBFFD46E6" ma:contentTypeVersion="6" ma:contentTypeDescription="Create a new document." ma:contentTypeScope="" ma:versionID="f121ee805646e72a1dd2b4fdfaaa2897">
  <xsd:schema xmlns:xsd="http://www.w3.org/2001/XMLSchema" xmlns:xs="http://www.w3.org/2001/XMLSchema" xmlns:p="http://schemas.microsoft.com/office/2006/metadata/properties" xmlns:ns3="cf448ebd-f879-4d18-b128-70d8f92a096c" targetNamespace="http://schemas.microsoft.com/office/2006/metadata/properties" ma:root="true" ma:fieldsID="5c5b03ac5f627fc66d6d3dcb32b60edd" ns3:_="">
    <xsd:import namespace="cf448ebd-f879-4d18-b128-70d8f92a096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448ebd-f879-4d18-b128-70d8f92a096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448ebd-f879-4d18-b128-70d8f92a096c" xsi:nil="true"/>
  </documentManagement>
</p:properties>
</file>

<file path=customXml/itemProps1.xml><?xml version="1.0" encoding="utf-8"?>
<ds:datastoreItem xmlns:ds="http://schemas.openxmlformats.org/officeDocument/2006/customXml" ds:itemID="{213EF0B1-0592-4E33-88E6-716C02DD2BA6}">
  <ds:schemaRefs>
    <ds:schemaRef ds:uri="cf448ebd-f879-4d18-b128-70d8f92a096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1AEE3BE-8B7E-4D74-8DD2-91B2C1F3C1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14F789-8DC4-45E2-9C16-7BD599F322F1}">
  <ds:schemaRefs>
    <ds:schemaRef ds:uri="http://purl.org/dc/elements/1.1/"/>
    <ds:schemaRef ds:uri="http://purl.org/dc/dcmitype/"/>
    <ds:schemaRef ds:uri="cf448ebd-f879-4d18-b128-70d8f92a096c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978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Corbel</vt:lpstr>
      <vt:lpstr>Open Sans</vt:lpstr>
      <vt:lpstr>Tahoma</vt:lpstr>
      <vt:lpstr>Parallax</vt:lpstr>
      <vt:lpstr>Barcelona</vt:lpstr>
      <vt:lpstr>Contents</vt:lpstr>
      <vt:lpstr>Introduction</vt:lpstr>
      <vt:lpstr>Introduction</vt:lpstr>
      <vt:lpstr>Attractions</vt:lpstr>
      <vt:lpstr>Attractions</vt:lpstr>
      <vt:lpstr>Attractions</vt:lpstr>
      <vt:lpstr>Foods</vt:lpstr>
      <vt:lpstr>Foods</vt:lpstr>
      <vt:lpstr>Foods</vt:lpstr>
      <vt:lpstr>Foods</vt:lpstr>
      <vt:lpstr>Festivals and Events</vt:lpstr>
      <vt:lpstr>Festivals and Events</vt:lpstr>
      <vt:lpstr>Festivals and Events</vt:lpstr>
      <vt:lpstr>Activities</vt:lpstr>
      <vt:lpstr>Activities</vt:lpstr>
      <vt:lpstr>Activities</vt:lpstr>
      <vt:lpstr>Summary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Sabit Naim</dc:creator>
  <cp:lastModifiedBy>Sabit Naim</cp:lastModifiedBy>
  <cp:revision>1</cp:revision>
  <dcterms:created xsi:type="dcterms:W3CDTF">2024-11-22T20:28:20Z</dcterms:created>
  <dcterms:modified xsi:type="dcterms:W3CDTF">2024-11-23T21:13:37Z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0x010100EDA28235DF1D1F4C8C5BC6DCBFFD46E6</vt:lpwstr>
  </property>
</Properties>
</file>