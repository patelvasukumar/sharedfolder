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A231-FD75-BA31-7BB0-B0460B3300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923C22-508D-FC9C-EB07-762504CA9F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A5697B-76E3-97CC-DF14-2BAE6F74A02D}"/>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5" name="Footer Placeholder 4">
            <a:extLst>
              <a:ext uri="{FF2B5EF4-FFF2-40B4-BE49-F238E27FC236}">
                <a16:creationId xmlns:a16="http://schemas.microsoft.com/office/drawing/2014/main" id="{4E1AE033-0B00-0672-4A68-F1BC24DB1C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150888-B8B5-3CCE-835D-FCD4E1D5E079}"/>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3338168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D9174-2C87-34AD-A08F-D38B92F8D5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105C6A-17C5-E061-72DD-C29D661A45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44F6E9-92CD-C696-4EE9-CAA2706C35F6}"/>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5" name="Footer Placeholder 4">
            <a:extLst>
              <a:ext uri="{FF2B5EF4-FFF2-40B4-BE49-F238E27FC236}">
                <a16:creationId xmlns:a16="http://schemas.microsoft.com/office/drawing/2014/main" id="{43EB1287-E2AC-3DF8-CAAC-6757B76138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CB53B8-203F-0393-BE79-590817A80B8F}"/>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37733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134CB-9A48-DF84-2154-CABE6C890E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C44C2F-1E64-0880-5DBE-ACB4B70EE0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461F09-1E3F-F618-83C6-BD1C10C6F9E4}"/>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5" name="Footer Placeholder 4">
            <a:extLst>
              <a:ext uri="{FF2B5EF4-FFF2-40B4-BE49-F238E27FC236}">
                <a16:creationId xmlns:a16="http://schemas.microsoft.com/office/drawing/2014/main" id="{7F0032D6-CDF6-161D-5811-E05EEA1237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6ADFC1-4866-B2C2-9B40-D9BEBFB920C1}"/>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1582721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910E-39EE-C6BA-D186-DBFB2E740C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875D8A-6A8E-FCD1-C2D6-D71CB1AE6A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DAB023-5A70-DCB3-C4A7-5658E84519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0A44054-16E9-C59C-2466-5A1CBD75F257}"/>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6" name="Footer Placeholder 5">
            <a:extLst>
              <a:ext uri="{FF2B5EF4-FFF2-40B4-BE49-F238E27FC236}">
                <a16:creationId xmlns:a16="http://schemas.microsoft.com/office/drawing/2014/main" id="{CA075302-0EAD-B29C-BD16-D7ABE8132B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8B34B1-9E73-70BB-715B-8003330B0155}"/>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3457717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7A90-6329-CAB3-1D35-2028A3A183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5374AE-2147-3D1F-B092-3C9FFD588C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46F85C-D637-FE9E-C22F-F92A69EBB8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6C6DA09-D37C-1550-C8D7-3E5B864FCD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6F649E-D661-70F3-739C-9D196F7FA5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62AB82-4645-0CCE-A179-3835B4581F5A}"/>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8" name="Footer Placeholder 7">
            <a:extLst>
              <a:ext uri="{FF2B5EF4-FFF2-40B4-BE49-F238E27FC236}">
                <a16:creationId xmlns:a16="http://schemas.microsoft.com/office/drawing/2014/main" id="{FE51DD59-24EE-8D7C-B447-0BCE74686C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C5F37AC-2CFD-1EB8-4D3B-E7551428ADF3}"/>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2661404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B6CAD-D5D0-B70D-9512-3F1599A55E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0FB7CF-D982-C692-502B-6E3006AC84EB}"/>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4" name="Footer Placeholder 3">
            <a:extLst>
              <a:ext uri="{FF2B5EF4-FFF2-40B4-BE49-F238E27FC236}">
                <a16:creationId xmlns:a16="http://schemas.microsoft.com/office/drawing/2014/main" id="{8C23C04E-87BC-9E0C-F441-9E65F0D1E56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9E4E82-8354-1078-6830-1FE74CB5F865}"/>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1592816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B92BDC-17CB-95F6-9BB7-6C91F7A19BC8}"/>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3" name="Footer Placeholder 2">
            <a:extLst>
              <a:ext uri="{FF2B5EF4-FFF2-40B4-BE49-F238E27FC236}">
                <a16:creationId xmlns:a16="http://schemas.microsoft.com/office/drawing/2014/main" id="{7EA510D9-C179-1E8A-660E-5CECFA19C8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B1BD33-E647-ABEC-38F1-28A86F3A0A5E}"/>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384034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6B8A2-376D-D169-5224-177BB5494D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E36541-2894-B182-4713-F63A28C839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72891E-3859-A694-24DF-983EEAE4C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D293C-FC8A-0DD2-2D33-8BDB91CCD844}"/>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6" name="Footer Placeholder 5">
            <a:extLst>
              <a:ext uri="{FF2B5EF4-FFF2-40B4-BE49-F238E27FC236}">
                <a16:creationId xmlns:a16="http://schemas.microsoft.com/office/drawing/2014/main" id="{DA60081C-97A7-9FFC-6679-0093531D76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0C4DFA-3612-895C-9542-10180715318D}"/>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3138729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0292-7039-6309-33C3-EA81E8E60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103B54-5028-F771-F2E3-07EF3D08F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58262C-6F54-943C-2C05-921DB155F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C8451F-144F-2BE9-14C6-F58053C16F9B}"/>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6" name="Footer Placeholder 5">
            <a:extLst>
              <a:ext uri="{FF2B5EF4-FFF2-40B4-BE49-F238E27FC236}">
                <a16:creationId xmlns:a16="http://schemas.microsoft.com/office/drawing/2014/main" id="{CD2A3445-1DD2-3507-2620-4907290FD8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5B31B8-40C1-75C3-49C6-CA28BAD54F8F}"/>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363976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91DF-26E5-2A26-30C2-9610BB8B01B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93F284-8B31-052D-B4F5-39CC158A6E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69CBD1-A2F9-081D-5405-190C88868D02}"/>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5" name="Footer Placeholder 4">
            <a:extLst>
              <a:ext uri="{FF2B5EF4-FFF2-40B4-BE49-F238E27FC236}">
                <a16:creationId xmlns:a16="http://schemas.microsoft.com/office/drawing/2014/main" id="{C4797464-8A52-5BFC-07A5-0ADED04C62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84519E-0639-E395-C983-99704D6ECA6E}"/>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3398263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3E078-BBE5-B282-1C5D-BF59CDA88A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3ECD50-C4B2-E6D3-7F89-8AA2A9963D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C7C517-74A9-4576-D09B-FE577F97B40B}"/>
              </a:ext>
            </a:extLst>
          </p:cNvPr>
          <p:cNvSpPr>
            <a:spLocks noGrp="1"/>
          </p:cNvSpPr>
          <p:nvPr>
            <p:ph type="dt" sz="half" idx="10"/>
          </p:nvPr>
        </p:nvSpPr>
        <p:spPr/>
        <p:txBody>
          <a:bodyPr/>
          <a:lstStyle/>
          <a:p>
            <a:fld id="{002FB981-678D-40E5-9AC3-BD5D0E404B5C}" type="datetimeFigureOut">
              <a:rPr lang="en-IN" smtClean="0"/>
              <a:t>17-03-2025</a:t>
            </a:fld>
            <a:endParaRPr lang="en-IN"/>
          </a:p>
        </p:txBody>
      </p:sp>
      <p:sp>
        <p:nvSpPr>
          <p:cNvPr id="5" name="Footer Placeholder 4">
            <a:extLst>
              <a:ext uri="{FF2B5EF4-FFF2-40B4-BE49-F238E27FC236}">
                <a16:creationId xmlns:a16="http://schemas.microsoft.com/office/drawing/2014/main" id="{D60506EA-551A-A8A7-8668-3D2E91E75C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195A35-017C-9D68-DA08-8E15C9DDA246}"/>
              </a:ext>
            </a:extLst>
          </p:cNvPr>
          <p:cNvSpPr>
            <a:spLocks noGrp="1"/>
          </p:cNvSpPr>
          <p:nvPr>
            <p:ph type="sldNum" sz="quarter" idx="12"/>
          </p:nvPr>
        </p:nvSpPr>
        <p:spPr/>
        <p:txBody>
          <a:bodyPr/>
          <a:lstStyle/>
          <a:p>
            <a:fld id="{BAB1DA34-65AC-4D97-A933-1CC20C7C1410}" type="slidenum">
              <a:rPr lang="en-IN" smtClean="0"/>
              <a:t>‹#›</a:t>
            </a:fld>
            <a:endParaRPr lang="en-IN"/>
          </a:p>
        </p:txBody>
      </p:sp>
    </p:spTree>
    <p:extLst>
      <p:ext uri="{BB962C8B-B14F-4D97-AF65-F5344CB8AC3E}">
        <p14:creationId xmlns:p14="http://schemas.microsoft.com/office/powerpoint/2010/main" val="125689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A1ABA5-0200-941E-D9FB-74684C0EC4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EA8173-1A83-976E-D851-E3E3F504E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B5B50-E4B6-1A26-BE4A-E29123F7E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FB981-678D-40E5-9AC3-BD5D0E404B5C}" type="datetimeFigureOut">
              <a:rPr lang="en-IN" smtClean="0"/>
              <a:t>17-03-2025</a:t>
            </a:fld>
            <a:endParaRPr lang="en-IN"/>
          </a:p>
        </p:txBody>
      </p:sp>
      <p:sp>
        <p:nvSpPr>
          <p:cNvPr id="5" name="Footer Placeholder 4">
            <a:extLst>
              <a:ext uri="{FF2B5EF4-FFF2-40B4-BE49-F238E27FC236}">
                <a16:creationId xmlns:a16="http://schemas.microsoft.com/office/drawing/2014/main" id="{231A97B0-B731-FB51-D109-AFCDFC774F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7A19AF9-34E5-B315-2CC9-BB22BBAB7C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B1DA34-65AC-4D97-A933-1CC20C7C1410}" type="slidenum">
              <a:rPr lang="en-IN" smtClean="0"/>
              <a:t>‹#›</a:t>
            </a:fld>
            <a:endParaRPr lang="en-IN"/>
          </a:p>
        </p:txBody>
      </p:sp>
    </p:spTree>
    <p:extLst>
      <p:ext uri="{BB962C8B-B14F-4D97-AF65-F5344CB8AC3E}">
        <p14:creationId xmlns:p14="http://schemas.microsoft.com/office/powerpoint/2010/main" val="2371853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meta.com/ca/quest/quest-3/" TargetMode="External"/><Relationship Id="rId2" Type="http://schemas.openxmlformats.org/officeDocument/2006/relationships/hyperlink" Target="https://www.wired.com/story/meta-quest-3-headset-video-leak/" TargetMode="External"/><Relationship Id="rId1" Type="http://schemas.openxmlformats.org/officeDocument/2006/relationships/slideLayout" Target="../slideLayouts/slideLayout7.xml"/><Relationship Id="rId5" Type="http://schemas.openxmlformats.org/officeDocument/2006/relationships/hyperlink" Target="https://bgr.com/reviews/meta-quest-3-review/" TargetMode="External"/><Relationship Id="rId4" Type="http://schemas.openxmlformats.org/officeDocument/2006/relationships/hyperlink" Target="https://www.androidcentral.com/gaming/virtual-reality/meta-quest-3-manufacturing-cost?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620DC6-99D8-C973-302D-16A717A00C53}"/>
              </a:ext>
            </a:extLst>
          </p:cNvPr>
          <p:cNvSpPr txBox="1"/>
          <p:nvPr/>
        </p:nvSpPr>
        <p:spPr>
          <a:xfrm>
            <a:off x="392783" y="1621411"/>
            <a:ext cx="11406433" cy="2246769"/>
          </a:xfrm>
          <a:prstGeom prst="rect">
            <a:avLst/>
          </a:prstGeom>
          <a:noFill/>
        </p:spPr>
        <p:txBody>
          <a:bodyPr wrap="square">
            <a:spAutoFit/>
          </a:bodyPr>
          <a:lstStyle/>
          <a:p>
            <a:pPr algn="ctr"/>
            <a:r>
              <a:rPr lang="en-IN" sz="2800" dirty="0"/>
              <a:t>Recommendations on Meta Quest 3 Vasukumar Patel</a:t>
            </a:r>
          </a:p>
          <a:p>
            <a:pPr algn="ctr"/>
            <a:endParaRPr lang="en-IN" sz="2800" dirty="0"/>
          </a:p>
          <a:p>
            <a:pPr algn="ctr"/>
            <a:r>
              <a:rPr lang="en-IN" sz="2800" dirty="0"/>
              <a:t>Computer Engineering Technology - Computing Science Algonquin College</a:t>
            </a:r>
          </a:p>
          <a:p>
            <a:pPr algn="ctr"/>
            <a:endParaRPr lang="en-IN" sz="2800" dirty="0"/>
          </a:p>
          <a:p>
            <a:pPr algn="ctr"/>
            <a:r>
              <a:rPr lang="en-IN" sz="2800" dirty="0"/>
              <a:t>January 22nd,2024</a:t>
            </a:r>
          </a:p>
        </p:txBody>
      </p:sp>
      <p:sp>
        <p:nvSpPr>
          <p:cNvPr id="5" name="TextBox 4">
            <a:extLst>
              <a:ext uri="{FF2B5EF4-FFF2-40B4-BE49-F238E27FC236}">
                <a16:creationId xmlns:a16="http://schemas.microsoft.com/office/drawing/2014/main" id="{1AD2325D-272A-99AC-465F-77A377E9AFBA}"/>
              </a:ext>
            </a:extLst>
          </p:cNvPr>
          <p:cNvSpPr txBox="1"/>
          <p:nvPr/>
        </p:nvSpPr>
        <p:spPr>
          <a:xfrm>
            <a:off x="3048785" y="4713369"/>
            <a:ext cx="6094428" cy="523220"/>
          </a:xfrm>
          <a:prstGeom prst="rect">
            <a:avLst/>
          </a:prstGeom>
          <a:noFill/>
        </p:spPr>
        <p:txBody>
          <a:bodyPr wrap="square">
            <a:spAutoFit/>
          </a:bodyPr>
          <a:lstStyle/>
          <a:p>
            <a:pPr algn="ctr"/>
            <a:r>
              <a:rPr lang="en-IN" sz="2800" dirty="0"/>
              <a:t>ENL2019T</a:t>
            </a:r>
            <a:r>
              <a:rPr lang="en-IN" dirty="0"/>
              <a:t> </a:t>
            </a:r>
            <a:r>
              <a:rPr lang="en-IN" sz="2800" dirty="0"/>
              <a:t>309</a:t>
            </a:r>
          </a:p>
        </p:txBody>
      </p:sp>
    </p:spTree>
    <p:extLst>
      <p:ext uri="{BB962C8B-B14F-4D97-AF65-F5344CB8AC3E}">
        <p14:creationId xmlns:p14="http://schemas.microsoft.com/office/powerpoint/2010/main" val="3649084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
            <a:extLst>
              <a:ext uri="{FF2B5EF4-FFF2-40B4-BE49-F238E27FC236}">
                <a16:creationId xmlns:a16="http://schemas.microsoft.com/office/drawing/2014/main" id="{3EC9F030-8BB6-88C2-D572-98173E1D40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00306" y="4041088"/>
            <a:ext cx="3687762"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3">
            <a:extLst>
              <a:ext uri="{FF2B5EF4-FFF2-40B4-BE49-F238E27FC236}">
                <a16:creationId xmlns:a16="http://schemas.microsoft.com/office/drawing/2014/main" id="{630951F2-172F-7661-74C7-7CA285245F4C}"/>
              </a:ext>
            </a:extLst>
          </p:cNvPr>
          <p:cNvSpPr>
            <a:spLocks noChangeArrowheads="1"/>
          </p:cNvSpPr>
          <p:nvPr/>
        </p:nvSpPr>
        <p:spPr bwMode="auto">
          <a:xfrm>
            <a:off x="5172366" y="6463531"/>
            <a:ext cx="1847267" cy="19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i="1" dirty="0">
                <a:solidFill>
                  <a:srgbClr val="44546A"/>
                </a:solidFill>
              </a:rPr>
              <a:t>Figure 2: Meta Quest 3 with super-fast charging [2]</a:t>
            </a:r>
          </a:p>
        </p:txBody>
      </p:sp>
      <p:sp>
        <p:nvSpPr>
          <p:cNvPr id="5" name="TextBox 4">
            <a:extLst>
              <a:ext uri="{FF2B5EF4-FFF2-40B4-BE49-F238E27FC236}">
                <a16:creationId xmlns:a16="http://schemas.microsoft.com/office/drawing/2014/main" id="{71FAF006-D019-8F2C-03F3-D066B7EEEDF9}"/>
              </a:ext>
            </a:extLst>
          </p:cNvPr>
          <p:cNvSpPr txBox="1"/>
          <p:nvPr/>
        </p:nvSpPr>
        <p:spPr>
          <a:xfrm>
            <a:off x="252558" y="0"/>
            <a:ext cx="11383259" cy="4139595"/>
          </a:xfrm>
          <a:prstGeom prst="rect">
            <a:avLst/>
          </a:prstGeom>
          <a:noFill/>
        </p:spPr>
        <p:txBody>
          <a:bodyPr wrap="square">
            <a:spAutoFit/>
          </a:bodyPr>
          <a:lstStyle/>
          <a:p>
            <a:pPr algn="just" eaLnBrk="1" hangingPunct="1">
              <a:spcAft>
                <a:spcPts val="1263"/>
              </a:spcAft>
            </a:pPr>
            <a:r>
              <a:rPr lang="en-US" altLang="en-US" sz="3600" dirty="0">
                <a:solidFill>
                  <a:srgbClr val="2F5496"/>
                </a:solidFill>
              </a:rPr>
              <a:t>4.0    Results and Discussion (Criteria vs. Solution)</a:t>
            </a:r>
          </a:p>
          <a:p>
            <a:pPr algn="just" eaLnBrk="1" hangingPunct="1">
              <a:spcAft>
                <a:spcPts val="838"/>
              </a:spcAft>
            </a:pPr>
            <a:r>
              <a:rPr lang="en-US" altLang="en-US" sz="2800" dirty="0">
                <a:solidFill>
                  <a:srgbClr val="2F5496"/>
                </a:solidFill>
              </a:rPr>
              <a:t>4.1    Fast Charging of Meta Quest 3</a:t>
            </a:r>
          </a:p>
          <a:p>
            <a:pPr algn="just" eaLnBrk="1" hangingPunct="1">
              <a:spcAft>
                <a:spcPts val="838"/>
              </a:spcAft>
            </a:pPr>
            <a:r>
              <a:rPr lang="en-US" altLang="en-US" sz="2400" dirty="0"/>
              <a:t>The goal is to ensure rapid charging, finishing in under 3 hours.</a:t>
            </a:r>
          </a:p>
          <a:p>
            <a:pPr algn="just" eaLnBrk="1" hangingPunct="1">
              <a:spcAft>
                <a:spcPts val="425"/>
              </a:spcAft>
            </a:pPr>
            <a:r>
              <a:rPr lang="en-US" altLang="en-US" sz="2400" dirty="0"/>
              <a:t>The battery information for the Meta Quest 3 is sourced from the Meta website, which offers precise technical specifications for hardware developed by Meta Corporation.</a:t>
            </a:r>
          </a:p>
          <a:p>
            <a:pPr algn="just" eaLnBrk="1" hangingPunct="1">
              <a:spcAft>
                <a:spcPts val="838"/>
              </a:spcAft>
            </a:pPr>
            <a:r>
              <a:rPr lang="en-US" altLang="en-US" sz="2400" dirty="0"/>
              <a:t>According to Meta, the Meta Quest 3 can be fully charged in about 2.3 hours [2].</a:t>
            </a:r>
          </a:p>
          <a:p>
            <a:pPr algn="just" eaLnBrk="1" hangingPunct="1">
              <a:spcAft>
                <a:spcPts val="2525"/>
              </a:spcAft>
            </a:pPr>
            <a:r>
              <a:rPr lang="en-US" altLang="en-US" sz="2400" dirty="0"/>
              <a:t>This passes the criterion for fast charging.</a:t>
            </a:r>
          </a:p>
          <a:p>
            <a:pPr algn="just" eaLnBrk="1" hangingPunct="1"/>
            <a:r>
              <a:rPr lang="en-US" altLang="en-US" sz="2400" dirty="0"/>
              <a:t>The Meta Quest 3 comes with super fast charging. (see Figure 2).</a:t>
            </a:r>
            <a:endParaRPr lang="en-IN" sz="2400" dirty="0"/>
          </a:p>
        </p:txBody>
      </p:sp>
    </p:spTree>
    <p:extLst>
      <p:ext uri="{BB962C8B-B14F-4D97-AF65-F5344CB8AC3E}">
        <p14:creationId xmlns:p14="http://schemas.microsoft.com/office/powerpoint/2010/main" val="3583882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BEBEBF-61AA-373A-117C-3A710D6A4D5B}"/>
              </a:ext>
            </a:extLst>
          </p:cNvPr>
          <p:cNvSpPr txBox="1"/>
          <p:nvPr/>
        </p:nvSpPr>
        <p:spPr>
          <a:xfrm>
            <a:off x="279465" y="12680"/>
            <a:ext cx="11633069" cy="3416320"/>
          </a:xfrm>
          <a:prstGeom prst="rect">
            <a:avLst/>
          </a:prstGeom>
          <a:noFill/>
        </p:spPr>
        <p:txBody>
          <a:bodyPr wrap="square">
            <a:spAutoFit/>
          </a:bodyPr>
          <a:lstStyle/>
          <a:p>
            <a:pPr algn="just" eaLnBrk="1" hangingPunct="1">
              <a:spcBef>
                <a:spcPts val="3988"/>
              </a:spcBef>
              <a:spcAft>
                <a:spcPts val="838"/>
              </a:spcAft>
            </a:pPr>
            <a:r>
              <a:rPr lang="en-US" altLang="en-US" sz="2800" dirty="0">
                <a:solidFill>
                  <a:srgbClr val="2F5496"/>
                </a:solidFill>
              </a:rPr>
              <a:t>4.2</a:t>
            </a:r>
            <a:r>
              <a:rPr lang="en-US" altLang="en-US" sz="2800" dirty="0"/>
              <a:t> </a:t>
            </a:r>
            <a:r>
              <a:rPr lang="en-US" altLang="en-US" sz="2800" dirty="0">
                <a:solidFill>
                  <a:srgbClr val="2F5496"/>
                </a:solidFill>
              </a:rPr>
              <a:t>Cost of Meta Quest 3</a:t>
            </a:r>
          </a:p>
          <a:p>
            <a:pPr eaLnBrk="1" hangingPunct="1">
              <a:spcAft>
                <a:spcPts val="425"/>
              </a:spcAft>
            </a:pPr>
            <a:r>
              <a:rPr lang="en-US" altLang="en-US" sz="2400" dirty="0"/>
              <a:t>The goal is to manufacture the Meta Quest 3 for under $500.00, including a complimentary repair service.</a:t>
            </a:r>
          </a:p>
          <a:p>
            <a:pPr eaLnBrk="1" hangingPunct="1">
              <a:spcAft>
                <a:spcPts val="425"/>
              </a:spcAft>
            </a:pPr>
            <a:r>
              <a:rPr lang="en-US" altLang="en-US" sz="2400" dirty="0"/>
              <a:t>The manufacturing cost details for the Meta Quest 3 are taken from Android Central, which offers reliable information on the hardware costs developed by Meta Corporation.</a:t>
            </a:r>
          </a:p>
          <a:p>
            <a:pPr algn="just" eaLnBrk="1" hangingPunct="1">
              <a:spcAft>
                <a:spcPts val="838"/>
              </a:spcAft>
            </a:pPr>
            <a:r>
              <a:rPr lang="en-US" altLang="en-US" sz="2400" dirty="0"/>
              <a:t>Android Central reports that the manufacturing cost of the Meta Quest 3 is under $500.00 [3].</a:t>
            </a:r>
          </a:p>
          <a:p>
            <a:pPr algn="just" eaLnBrk="1" hangingPunct="1"/>
            <a:r>
              <a:rPr lang="en-US" altLang="en-US" sz="2400" dirty="0"/>
              <a:t>This passes the criterion for cost.</a:t>
            </a:r>
          </a:p>
        </p:txBody>
      </p:sp>
      <p:sp>
        <p:nvSpPr>
          <p:cNvPr id="5" name="TextBox 4">
            <a:extLst>
              <a:ext uri="{FF2B5EF4-FFF2-40B4-BE49-F238E27FC236}">
                <a16:creationId xmlns:a16="http://schemas.microsoft.com/office/drawing/2014/main" id="{34EBA650-FAEC-3F86-E7EE-D18433CDD615}"/>
              </a:ext>
            </a:extLst>
          </p:cNvPr>
          <p:cNvSpPr txBox="1"/>
          <p:nvPr/>
        </p:nvSpPr>
        <p:spPr>
          <a:xfrm>
            <a:off x="279465" y="3429000"/>
            <a:ext cx="8865319" cy="461665"/>
          </a:xfrm>
          <a:prstGeom prst="rect">
            <a:avLst/>
          </a:prstGeom>
          <a:noFill/>
        </p:spPr>
        <p:txBody>
          <a:bodyPr wrap="square">
            <a:spAutoFit/>
          </a:bodyPr>
          <a:lstStyle/>
          <a:p>
            <a:pPr algn="just" eaLnBrk="1" hangingPunct="1"/>
            <a:r>
              <a:rPr lang="en-US" altLang="en-US" sz="2400" dirty="0"/>
              <a:t>The Meta Quest 3 comes with affordable cost. (see Figure 3).</a:t>
            </a:r>
          </a:p>
        </p:txBody>
      </p:sp>
      <p:pic>
        <p:nvPicPr>
          <p:cNvPr id="6" name="Picture 1">
            <a:extLst>
              <a:ext uri="{FF2B5EF4-FFF2-40B4-BE49-F238E27FC236}">
                <a16:creationId xmlns:a16="http://schemas.microsoft.com/office/drawing/2014/main" id="{1F6BA761-03D4-11C5-3DE7-B3BFBC70EC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60799" y="3890665"/>
            <a:ext cx="4470400" cy="252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9935BC1-0272-CFE7-859B-C118200A57F6}"/>
              </a:ext>
            </a:extLst>
          </p:cNvPr>
          <p:cNvSpPr txBox="1"/>
          <p:nvPr/>
        </p:nvSpPr>
        <p:spPr>
          <a:xfrm>
            <a:off x="3050356" y="6397324"/>
            <a:ext cx="6094428" cy="461665"/>
          </a:xfrm>
          <a:prstGeom prst="rect">
            <a:avLst/>
          </a:prstGeom>
          <a:noFill/>
        </p:spPr>
        <p:txBody>
          <a:bodyPr wrap="square">
            <a:spAutoFit/>
          </a:bodyPr>
          <a:lstStyle/>
          <a:p>
            <a:pPr algn="ctr" eaLnBrk="1" hangingPunct="1"/>
            <a:r>
              <a:rPr lang="en-US" altLang="en-US" sz="2400" i="1" dirty="0">
                <a:solidFill>
                  <a:srgbClr val="44546A"/>
                </a:solidFill>
              </a:rPr>
              <a:t>Figure 3: Meta Quest 3 with affordable cost [3]</a:t>
            </a:r>
          </a:p>
        </p:txBody>
      </p:sp>
    </p:spTree>
    <p:extLst>
      <p:ext uri="{BB962C8B-B14F-4D97-AF65-F5344CB8AC3E}">
        <p14:creationId xmlns:p14="http://schemas.microsoft.com/office/powerpoint/2010/main" val="3095115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B2D519-7963-49DD-E4A6-95D080D0CFBA}"/>
              </a:ext>
            </a:extLst>
          </p:cNvPr>
          <p:cNvSpPr txBox="1"/>
          <p:nvPr/>
        </p:nvSpPr>
        <p:spPr>
          <a:xfrm>
            <a:off x="114496" y="0"/>
            <a:ext cx="11963007" cy="3467616"/>
          </a:xfrm>
          <a:prstGeom prst="rect">
            <a:avLst/>
          </a:prstGeom>
          <a:noFill/>
        </p:spPr>
        <p:txBody>
          <a:bodyPr wrap="square">
            <a:spAutoFit/>
          </a:bodyPr>
          <a:lstStyle/>
          <a:p>
            <a:pPr algn="just" eaLnBrk="1" hangingPunct="1">
              <a:spcBef>
                <a:spcPts val="2313"/>
              </a:spcBef>
              <a:spcAft>
                <a:spcPts val="838"/>
              </a:spcAft>
            </a:pPr>
            <a:r>
              <a:rPr lang="en-US" altLang="en-US" sz="2800" dirty="0">
                <a:solidFill>
                  <a:srgbClr val="2F5496"/>
                </a:solidFill>
              </a:rPr>
              <a:t>4.3</a:t>
            </a:r>
            <a:r>
              <a:rPr lang="en-US" altLang="en-US" sz="2800" dirty="0"/>
              <a:t> </a:t>
            </a:r>
            <a:r>
              <a:rPr lang="en-US" altLang="en-US" sz="2800" dirty="0">
                <a:solidFill>
                  <a:srgbClr val="2F5496"/>
                </a:solidFill>
              </a:rPr>
              <a:t>Visual Quality of Meta Quest 3</a:t>
            </a:r>
          </a:p>
          <a:p>
            <a:pPr algn="just" eaLnBrk="1" hangingPunct="1">
              <a:spcAft>
                <a:spcPts val="625"/>
              </a:spcAft>
            </a:pPr>
            <a:r>
              <a:rPr lang="en-US" altLang="en-US" sz="2400" dirty="0"/>
              <a:t>The goal is to utilize a mini-LED display to enhance visual clarity, providing more vibrant colors and improved contrast.</a:t>
            </a:r>
          </a:p>
          <a:p>
            <a:pPr eaLnBrk="1" hangingPunct="1">
              <a:spcAft>
                <a:spcPts val="625"/>
              </a:spcAft>
            </a:pPr>
            <a:r>
              <a:rPr lang="en-US" altLang="en-US" sz="2400" dirty="0"/>
              <a:t>The mini-LED information for the Meta Quest 3 is sourced from BGR, which provides dependable details about the mini-LED technology used by Meta Corporation in the Meta Quest 3.</a:t>
            </a:r>
          </a:p>
          <a:p>
            <a:pPr algn="just" eaLnBrk="1" hangingPunct="1">
              <a:spcAft>
                <a:spcPts val="838"/>
              </a:spcAft>
            </a:pPr>
            <a:r>
              <a:rPr lang="en-US" altLang="en-US" sz="2400" dirty="0"/>
              <a:t>BGR states that the Meta Quest 3 can utilize mini-LED technology to enhance visual quality [4].</a:t>
            </a:r>
          </a:p>
          <a:p>
            <a:pPr algn="just" eaLnBrk="1" hangingPunct="1">
              <a:spcAft>
                <a:spcPts val="2313"/>
              </a:spcAft>
            </a:pPr>
            <a:r>
              <a:rPr lang="en-US" altLang="en-US" sz="2400" dirty="0"/>
              <a:t>This passes the criterion for visual quality.</a:t>
            </a:r>
          </a:p>
        </p:txBody>
      </p:sp>
      <p:sp>
        <p:nvSpPr>
          <p:cNvPr id="5" name="TextBox 4">
            <a:extLst>
              <a:ext uri="{FF2B5EF4-FFF2-40B4-BE49-F238E27FC236}">
                <a16:creationId xmlns:a16="http://schemas.microsoft.com/office/drawing/2014/main" id="{BDC8DA3B-1B63-600A-4095-F49B57EA8690}"/>
              </a:ext>
            </a:extLst>
          </p:cNvPr>
          <p:cNvSpPr txBox="1"/>
          <p:nvPr/>
        </p:nvSpPr>
        <p:spPr>
          <a:xfrm>
            <a:off x="114496" y="3429000"/>
            <a:ext cx="8875336" cy="461665"/>
          </a:xfrm>
          <a:prstGeom prst="rect">
            <a:avLst/>
          </a:prstGeom>
          <a:noFill/>
        </p:spPr>
        <p:txBody>
          <a:bodyPr wrap="square">
            <a:spAutoFit/>
          </a:bodyPr>
          <a:lstStyle/>
          <a:p>
            <a:pPr algn="just" eaLnBrk="1" hangingPunct="1">
              <a:spcBef>
                <a:spcPts val="2313"/>
              </a:spcBef>
            </a:pPr>
            <a:r>
              <a:rPr lang="en-US" altLang="en-US" sz="2400" dirty="0"/>
              <a:t>The Meta Quest 3 comes with high visual quality. (see Figure 4).</a:t>
            </a:r>
          </a:p>
        </p:txBody>
      </p:sp>
      <p:pic>
        <p:nvPicPr>
          <p:cNvPr id="6" name="Picture 2">
            <a:extLst>
              <a:ext uri="{FF2B5EF4-FFF2-40B4-BE49-F238E27FC236}">
                <a16:creationId xmlns:a16="http://schemas.microsoft.com/office/drawing/2014/main" id="{E20D0F91-0317-75B1-EA68-C353670826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6036" y="3890665"/>
            <a:ext cx="4479925"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984E0272-E3E7-7DD3-7DA3-53B63C08FF24}"/>
              </a:ext>
            </a:extLst>
          </p:cNvPr>
          <p:cNvSpPr txBox="1"/>
          <p:nvPr/>
        </p:nvSpPr>
        <p:spPr>
          <a:xfrm>
            <a:off x="2247505" y="6379349"/>
            <a:ext cx="7696986" cy="461665"/>
          </a:xfrm>
          <a:prstGeom prst="rect">
            <a:avLst/>
          </a:prstGeom>
          <a:noFill/>
        </p:spPr>
        <p:txBody>
          <a:bodyPr wrap="square">
            <a:spAutoFit/>
          </a:bodyPr>
          <a:lstStyle/>
          <a:p>
            <a:pPr algn="ctr" eaLnBrk="1" hangingPunct="1"/>
            <a:r>
              <a:rPr lang="en-US" altLang="en-US" sz="2400" i="1" dirty="0">
                <a:solidFill>
                  <a:srgbClr val="44546A"/>
                </a:solidFill>
              </a:rPr>
              <a:t>Figure 4: Meta Quest 3 with high visual quality [4]</a:t>
            </a:r>
          </a:p>
        </p:txBody>
      </p:sp>
    </p:spTree>
    <p:extLst>
      <p:ext uri="{BB962C8B-B14F-4D97-AF65-F5344CB8AC3E}">
        <p14:creationId xmlns:p14="http://schemas.microsoft.com/office/powerpoint/2010/main" val="2511936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4FFAAA-E253-7C62-5995-D6BCC5970C9D}"/>
              </a:ext>
            </a:extLst>
          </p:cNvPr>
          <p:cNvSpPr txBox="1"/>
          <p:nvPr/>
        </p:nvSpPr>
        <p:spPr>
          <a:xfrm>
            <a:off x="0" y="0"/>
            <a:ext cx="6094428" cy="646331"/>
          </a:xfrm>
          <a:prstGeom prst="rect">
            <a:avLst/>
          </a:prstGeom>
          <a:noFill/>
        </p:spPr>
        <p:txBody>
          <a:bodyPr wrap="square">
            <a:spAutoFit/>
          </a:bodyPr>
          <a:lstStyle/>
          <a:p>
            <a:pPr eaLnBrk="1" hangingPunct="1"/>
            <a:r>
              <a:rPr lang="en-US" altLang="en-US" sz="3600" dirty="0">
                <a:solidFill>
                  <a:srgbClr val="2F5496"/>
                </a:solidFill>
              </a:rPr>
              <a:t>5.0 Conclusion</a:t>
            </a:r>
          </a:p>
        </p:txBody>
      </p:sp>
      <p:sp>
        <p:nvSpPr>
          <p:cNvPr id="5" name="TextBox 4">
            <a:extLst>
              <a:ext uri="{FF2B5EF4-FFF2-40B4-BE49-F238E27FC236}">
                <a16:creationId xmlns:a16="http://schemas.microsoft.com/office/drawing/2014/main" id="{2237D08A-7712-83AD-084D-2C2D591F8CA7}"/>
              </a:ext>
            </a:extLst>
          </p:cNvPr>
          <p:cNvSpPr txBox="1"/>
          <p:nvPr/>
        </p:nvSpPr>
        <p:spPr>
          <a:xfrm>
            <a:off x="0" y="646330"/>
            <a:ext cx="12122870" cy="2677656"/>
          </a:xfrm>
          <a:prstGeom prst="rect">
            <a:avLst/>
          </a:prstGeom>
          <a:noFill/>
        </p:spPr>
        <p:txBody>
          <a:bodyPr wrap="square">
            <a:spAutoFit/>
          </a:bodyPr>
          <a:lstStyle/>
          <a:p>
            <a:pPr eaLnBrk="1" hangingPunct="1">
              <a:spcAft>
                <a:spcPts val="5038"/>
              </a:spcAft>
            </a:pPr>
            <a:r>
              <a:rPr lang="en-US" altLang="en-US" sz="2400" dirty="0"/>
              <a:t>Battery life and charging, cost, and display &amp; visual quality are the main three criteria to evaluate Meta Quest 3. These criteria demonstrate that it meets all requirements. The device supports superfast charging. It charges fully in 2.5 hours. In addition, it costs just $500.00, making it a budget-friendly option. The device has mini-LED technology, which ensures enhanced visual clarity, offering an improved user experience. Due to this, the Meta Quest 3 is a suitable and cost-effective solution for gaming and education. This report supports the adoption of Meta Quest 3 as a viable option for users seeking high performance at an affordable price.</a:t>
            </a:r>
          </a:p>
        </p:txBody>
      </p:sp>
      <p:sp>
        <p:nvSpPr>
          <p:cNvPr id="6" name="Rectangle 3">
            <a:extLst>
              <a:ext uri="{FF2B5EF4-FFF2-40B4-BE49-F238E27FC236}">
                <a16:creationId xmlns:a16="http://schemas.microsoft.com/office/drawing/2014/main" id="{36F079CC-4EBF-6500-0199-09456FA858F3}"/>
              </a:ext>
            </a:extLst>
          </p:cNvPr>
          <p:cNvSpPr>
            <a:spLocks noChangeArrowheads="1"/>
          </p:cNvSpPr>
          <p:nvPr/>
        </p:nvSpPr>
        <p:spPr bwMode="auto">
          <a:xfrm>
            <a:off x="134954" y="3534015"/>
            <a:ext cx="4484180" cy="56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ts val="5038"/>
              </a:spcBef>
              <a:spcAft>
                <a:spcPts val="2313"/>
              </a:spcAft>
            </a:pPr>
            <a:r>
              <a:rPr lang="en-US" altLang="en-US" sz="2400" dirty="0"/>
              <a:t>All criteria for the Meta Quest 3 were passed (See Table 1).</a:t>
            </a:r>
          </a:p>
        </p:txBody>
      </p:sp>
      <p:graphicFrame>
        <p:nvGraphicFramePr>
          <p:cNvPr id="7" name="Table 6">
            <a:extLst>
              <a:ext uri="{FF2B5EF4-FFF2-40B4-BE49-F238E27FC236}">
                <a16:creationId xmlns:a16="http://schemas.microsoft.com/office/drawing/2014/main" id="{BC0980CE-F7E0-4836-CBA5-71EFD56CE6E8}"/>
              </a:ext>
            </a:extLst>
          </p:cNvPr>
          <p:cNvGraphicFramePr>
            <a:graphicFrameLocks noGrp="1"/>
          </p:cNvGraphicFramePr>
          <p:nvPr>
            <p:extLst>
              <p:ext uri="{D42A27DB-BD31-4B8C-83A1-F6EECF244321}">
                <p14:modId xmlns:p14="http://schemas.microsoft.com/office/powerpoint/2010/main" val="1928390291"/>
              </p:ext>
            </p:extLst>
          </p:nvPr>
        </p:nvGraphicFramePr>
        <p:xfrm>
          <a:off x="513760" y="4587778"/>
          <a:ext cx="11161336" cy="1623892"/>
        </p:xfrm>
        <a:graphic>
          <a:graphicData uri="http://schemas.openxmlformats.org/drawingml/2006/table">
            <a:tbl>
              <a:tblPr/>
              <a:tblGrid>
                <a:gridCol w="3738246">
                  <a:extLst>
                    <a:ext uri="{9D8B030D-6E8A-4147-A177-3AD203B41FA5}">
                      <a16:colId xmlns:a16="http://schemas.microsoft.com/office/drawing/2014/main" val="20000"/>
                    </a:ext>
                  </a:extLst>
                </a:gridCol>
                <a:gridCol w="3708578">
                  <a:extLst>
                    <a:ext uri="{9D8B030D-6E8A-4147-A177-3AD203B41FA5}">
                      <a16:colId xmlns:a16="http://schemas.microsoft.com/office/drawing/2014/main" val="20001"/>
                    </a:ext>
                  </a:extLst>
                </a:gridCol>
                <a:gridCol w="3714512">
                  <a:extLst>
                    <a:ext uri="{9D8B030D-6E8A-4147-A177-3AD203B41FA5}">
                      <a16:colId xmlns:a16="http://schemas.microsoft.com/office/drawing/2014/main" val="20002"/>
                    </a:ext>
                  </a:extLst>
                </a:gridCol>
              </a:tblGrid>
              <a:tr h="405973">
                <a:tc>
                  <a:txBody>
                    <a:bodyPr/>
                    <a:lstStyle/>
                    <a:p>
                      <a:pPr indent="0"/>
                      <a:r>
                        <a:rPr lang="en-US" sz="2400" b="1">
                          <a:latin typeface="Calibri"/>
                        </a:rPr>
                        <a:t>Criteria</a:t>
                      </a:r>
                    </a:p>
                  </a:txBody>
                  <a:tcPr marL="0" marR="0" marT="0" marB="0" anchor="b"/>
                </a:tc>
                <a:tc>
                  <a:txBody>
                    <a:bodyPr/>
                    <a:lstStyle/>
                    <a:p>
                      <a:pPr indent="0"/>
                      <a:r>
                        <a:rPr lang="en-US" sz="2400" b="1">
                          <a:latin typeface="Calibri"/>
                        </a:rPr>
                        <a:t>Pass</a:t>
                      </a:r>
                    </a:p>
                  </a:txBody>
                  <a:tcPr marL="0" marR="0" marT="0" marB="0" anchor="b"/>
                </a:tc>
                <a:tc>
                  <a:txBody>
                    <a:bodyPr/>
                    <a:lstStyle/>
                    <a:p>
                      <a:pPr indent="0"/>
                      <a:r>
                        <a:rPr lang="en-US" sz="2400" b="1">
                          <a:latin typeface="Calibri"/>
                        </a:rPr>
                        <a:t>Fail</a:t>
                      </a:r>
                    </a:p>
                  </a:txBody>
                  <a:tcPr marL="0" marR="0" marT="0" marB="0" anchor="b"/>
                </a:tc>
                <a:extLst>
                  <a:ext uri="{0D108BD9-81ED-4DB2-BD59-A6C34878D82A}">
                    <a16:rowId xmlns:a16="http://schemas.microsoft.com/office/drawing/2014/main" val="10000"/>
                  </a:ext>
                </a:extLst>
              </a:tr>
              <a:tr h="405973">
                <a:tc>
                  <a:txBody>
                    <a:bodyPr/>
                    <a:lstStyle/>
                    <a:p>
                      <a:pPr indent="0"/>
                      <a:r>
                        <a:rPr lang="en-US" sz="2400" dirty="0">
                          <a:latin typeface="Calibri"/>
                        </a:rPr>
                        <a:t>Battery life and charging</a:t>
                      </a:r>
                    </a:p>
                  </a:txBody>
                  <a:tcPr marL="0" marR="0" marT="0" marB="0" anchor="b"/>
                </a:tc>
                <a:tc>
                  <a:txBody>
                    <a:bodyPr/>
                    <a:lstStyle/>
                    <a:p>
                      <a:pPr indent="0"/>
                      <a:r>
                        <a:rPr lang="en-US" sz="2400">
                          <a:latin typeface="Calibri"/>
                        </a:rPr>
                        <a:t>x</a:t>
                      </a:r>
                    </a:p>
                  </a:txBody>
                  <a:tcPr marL="0" marR="0" marT="0" marB="0" anchor="b"/>
                </a:tc>
                <a:tc>
                  <a:txBody>
                    <a:bodyPr/>
                    <a:lstStyle/>
                    <a:p>
                      <a:endParaRPr sz="2400"/>
                    </a:p>
                  </a:txBody>
                  <a:tcPr marL="0" marR="0" marT="0" marB="0"/>
                </a:tc>
                <a:extLst>
                  <a:ext uri="{0D108BD9-81ED-4DB2-BD59-A6C34878D82A}">
                    <a16:rowId xmlns:a16="http://schemas.microsoft.com/office/drawing/2014/main" val="10001"/>
                  </a:ext>
                </a:extLst>
              </a:tr>
              <a:tr h="405973">
                <a:tc>
                  <a:txBody>
                    <a:bodyPr/>
                    <a:lstStyle/>
                    <a:p>
                      <a:pPr indent="0"/>
                      <a:r>
                        <a:rPr lang="en-US" sz="2400">
                          <a:latin typeface="Calibri"/>
                        </a:rPr>
                        <a:t>Cost</a:t>
                      </a:r>
                    </a:p>
                  </a:txBody>
                  <a:tcPr marL="0" marR="0" marT="0" marB="0" anchor="b"/>
                </a:tc>
                <a:tc>
                  <a:txBody>
                    <a:bodyPr/>
                    <a:lstStyle/>
                    <a:p>
                      <a:pPr indent="0"/>
                      <a:r>
                        <a:rPr lang="en-US" sz="2400">
                          <a:latin typeface="Calibri"/>
                        </a:rPr>
                        <a:t>x</a:t>
                      </a:r>
                    </a:p>
                  </a:txBody>
                  <a:tcPr marL="0" marR="0" marT="0" marB="0" anchor="b"/>
                </a:tc>
                <a:tc>
                  <a:txBody>
                    <a:bodyPr/>
                    <a:lstStyle/>
                    <a:p>
                      <a:endParaRPr sz="2400"/>
                    </a:p>
                  </a:txBody>
                  <a:tcPr marL="0" marR="0" marT="0" marB="0"/>
                </a:tc>
                <a:extLst>
                  <a:ext uri="{0D108BD9-81ED-4DB2-BD59-A6C34878D82A}">
                    <a16:rowId xmlns:a16="http://schemas.microsoft.com/office/drawing/2014/main" val="10002"/>
                  </a:ext>
                </a:extLst>
              </a:tr>
              <a:tr h="405973">
                <a:tc>
                  <a:txBody>
                    <a:bodyPr/>
                    <a:lstStyle/>
                    <a:p>
                      <a:pPr indent="0"/>
                      <a:r>
                        <a:rPr lang="en-US" sz="2400">
                          <a:latin typeface="Calibri"/>
                        </a:rPr>
                        <a:t>Display &amp; Visual Quality</a:t>
                      </a:r>
                    </a:p>
                  </a:txBody>
                  <a:tcPr marL="0" marR="0" marT="0" marB="0" anchor="b"/>
                </a:tc>
                <a:tc>
                  <a:txBody>
                    <a:bodyPr/>
                    <a:lstStyle/>
                    <a:p>
                      <a:pPr indent="0"/>
                      <a:r>
                        <a:rPr lang="en-US" sz="2400">
                          <a:latin typeface="Calibri"/>
                        </a:rPr>
                        <a:t>x</a:t>
                      </a:r>
                    </a:p>
                  </a:txBody>
                  <a:tcPr marL="0" marR="0" marT="0" marB="0" anchor="b"/>
                </a:tc>
                <a:tc>
                  <a:txBody>
                    <a:bodyPr/>
                    <a:lstStyle/>
                    <a:p>
                      <a:endParaRPr sz="2400" dirty="0"/>
                    </a:p>
                  </a:txBody>
                  <a:tcPr marL="0" marR="0" marT="0" marB="0"/>
                </a:tc>
                <a:extLst>
                  <a:ext uri="{0D108BD9-81ED-4DB2-BD59-A6C34878D82A}">
                    <a16:rowId xmlns:a16="http://schemas.microsoft.com/office/drawing/2014/main" val="10003"/>
                  </a:ext>
                </a:extLst>
              </a:tr>
            </a:tbl>
          </a:graphicData>
        </a:graphic>
      </p:graphicFrame>
      <p:sp>
        <p:nvSpPr>
          <p:cNvPr id="8" name="Rectangle 4">
            <a:extLst>
              <a:ext uri="{FF2B5EF4-FFF2-40B4-BE49-F238E27FC236}">
                <a16:creationId xmlns:a16="http://schemas.microsoft.com/office/drawing/2014/main" id="{3873A3EA-8A6C-5274-95EC-551DCDD43D29}"/>
              </a:ext>
            </a:extLst>
          </p:cNvPr>
          <p:cNvSpPr>
            <a:spLocks noChangeArrowheads="1"/>
          </p:cNvSpPr>
          <p:nvPr/>
        </p:nvSpPr>
        <p:spPr bwMode="auto">
          <a:xfrm>
            <a:off x="4963334" y="4096071"/>
            <a:ext cx="2262188" cy="12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i="1" dirty="0">
                <a:solidFill>
                  <a:srgbClr val="44546A"/>
                </a:solidFill>
              </a:rPr>
              <a:t>Table 1: Meta Quest 3 Recommendation Criteria</a:t>
            </a:r>
          </a:p>
        </p:txBody>
      </p:sp>
    </p:spTree>
    <p:extLst>
      <p:ext uri="{BB962C8B-B14F-4D97-AF65-F5344CB8AC3E}">
        <p14:creationId xmlns:p14="http://schemas.microsoft.com/office/powerpoint/2010/main" val="3062531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6A607E-2191-1982-E524-DCDE7C24C552}"/>
              </a:ext>
            </a:extLst>
          </p:cNvPr>
          <p:cNvSpPr>
            <a:spLocks noChangeArrowheads="1"/>
          </p:cNvSpPr>
          <p:nvPr/>
        </p:nvSpPr>
        <p:spPr bwMode="auto">
          <a:xfrm>
            <a:off x="835835" y="917296"/>
            <a:ext cx="10520330" cy="3419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3600" dirty="0">
                <a:solidFill>
                  <a:srgbClr val="2F5496"/>
                </a:solidFill>
              </a:rPr>
              <a:t>6.0 Recommendation</a:t>
            </a:r>
          </a:p>
        </p:txBody>
      </p:sp>
      <p:sp>
        <p:nvSpPr>
          <p:cNvPr id="4" name="TextBox 3">
            <a:extLst>
              <a:ext uri="{FF2B5EF4-FFF2-40B4-BE49-F238E27FC236}">
                <a16:creationId xmlns:a16="http://schemas.microsoft.com/office/drawing/2014/main" id="{9847E7F3-5948-6ED2-D9E5-4EA2923D3BD2}"/>
              </a:ext>
            </a:extLst>
          </p:cNvPr>
          <p:cNvSpPr txBox="1"/>
          <p:nvPr/>
        </p:nvSpPr>
        <p:spPr>
          <a:xfrm>
            <a:off x="747467" y="2474893"/>
            <a:ext cx="10697065" cy="954107"/>
          </a:xfrm>
          <a:prstGeom prst="rect">
            <a:avLst/>
          </a:prstGeom>
          <a:noFill/>
        </p:spPr>
        <p:txBody>
          <a:bodyPr wrap="square">
            <a:spAutoFit/>
          </a:bodyPr>
          <a:lstStyle/>
          <a:p>
            <a:pPr eaLnBrk="1" hangingPunct="1"/>
            <a:r>
              <a:rPr lang="en-US" altLang="en-US" sz="2800" dirty="0"/>
              <a:t>Due to the battery life and charging cost and display &amp; visual quality provided, Meta Quest 3 is recommended</a:t>
            </a:r>
            <a:r>
              <a:rPr lang="en-US" altLang="en-US" sz="1800" dirty="0"/>
              <a:t>.</a:t>
            </a:r>
          </a:p>
        </p:txBody>
      </p:sp>
    </p:spTree>
    <p:extLst>
      <p:ext uri="{BB962C8B-B14F-4D97-AF65-F5344CB8AC3E}">
        <p14:creationId xmlns:p14="http://schemas.microsoft.com/office/powerpoint/2010/main" val="3174547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7A0A3D-89F0-99FA-93B7-439EE9D1BE04}"/>
              </a:ext>
            </a:extLst>
          </p:cNvPr>
          <p:cNvSpPr>
            <a:spLocks noChangeArrowheads="1"/>
          </p:cNvSpPr>
          <p:nvPr/>
        </p:nvSpPr>
        <p:spPr bwMode="auto">
          <a:xfrm>
            <a:off x="1030696" y="697583"/>
            <a:ext cx="10130608" cy="437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Aft>
                <a:spcPts val="2525"/>
              </a:spcAft>
            </a:pPr>
            <a:r>
              <a:rPr lang="en-US" altLang="en-US" sz="3600" dirty="0">
                <a:solidFill>
                  <a:srgbClr val="2F5496"/>
                </a:solidFill>
              </a:rPr>
              <a:t>References</a:t>
            </a:r>
          </a:p>
        </p:txBody>
      </p:sp>
      <p:sp>
        <p:nvSpPr>
          <p:cNvPr id="3" name="Rectangle 2">
            <a:extLst>
              <a:ext uri="{FF2B5EF4-FFF2-40B4-BE49-F238E27FC236}">
                <a16:creationId xmlns:a16="http://schemas.microsoft.com/office/drawing/2014/main" id="{B00A2C0E-57F6-742A-AA50-0FECD3E65010}"/>
              </a:ext>
            </a:extLst>
          </p:cNvPr>
          <p:cNvSpPr>
            <a:spLocks noChangeArrowheads="1"/>
          </p:cNvSpPr>
          <p:nvPr/>
        </p:nvSpPr>
        <p:spPr bwMode="auto">
          <a:xfrm>
            <a:off x="542495" y="1470583"/>
            <a:ext cx="11107010" cy="468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09550" indent="-228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spcBef>
                <a:spcPts val="2525"/>
              </a:spcBef>
              <a:spcAft>
                <a:spcPts val="625"/>
              </a:spcAft>
            </a:pPr>
            <a:r>
              <a:rPr lang="en-US" altLang="en-US" sz="2400" dirty="0"/>
              <a:t>[1]    B. Ashworth, "The Leaked Quest 3 Headset Video Teases Meta's VR Ambitions," wired.com, 23 August 2023. [Online]. Available:</a:t>
            </a:r>
            <a:r>
              <a:rPr lang="en-US" altLang="en-US" sz="2400" dirty="0">
                <a:hlinkClick r:id="rId2"/>
              </a:rPr>
              <a:t> </a:t>
            </a:r>
            <a:r>
              <a:rPr lang="en-US" altLang="en-US" sz="2400" u="sng" dirty="0">
                <a:solidFill>
                  <a:srgbClr val="0563C1"/>
                </a:solidFill>
                <a:hlinkClick r:id="rId2"/>
              </a:rPr>
              <a:t>https://www.wired.com/story/meta-quest-3-headset-video-leak/</a:t>
            </a:r>
            <a:r>
              <a:rPr lang="en-US" altLang="en-US" sz="2400" dirty="0">
                <a:hlinkClick r:id="rId2"/>
              </a:rPr>
              <a:t>.</a:t>
            </a:r>
            <a:r>
              <a:rPr lang="en-US" altLang="en-US" sz="2400" dirty="0"/>
              <a:t> [Accessed 11 February 2025].</a:t>
            </a:r>
          </a:p>
          <a:p>
            <a:pPr eaLnBrk="1" hangingPunct="1">
              <a:spcAft>
                <a:spcPts val="625"/>
              </a:spcAft>
            </a:pPr>
            <a:r>
              <a:rPr lang="en-US" altLang="en-US" sz="2400" dirty="0"/>
              <a:t>[2]    Meta, "Meta Quest 3," Meta, [Online]. Available:</a:t>
            </a:r>
            <a:r>
              <a:rPr lang="en-US" altLang="en-US" sz="2400" dirty="0">
                <a:hlinkClick r:id="rId3"/>
              </a:rPr>
              <a:t> </a:t>
            </a:r>
            <a:r>
              <a:rPr lang="en-US" altLang="en-US" sz="2400" u="sng" dirty="0">
                <a:solidFill>
                  <a:srgbClr val="0563C1"/>
                </a:solidFill>
                <a:hlinkClick r:id="rId3"/>
              </a:rPr>
              <a:t>https://www.meta.com/ca/quest/quest-3/</a:t>
            </a:r>
            <a:r>
              <a:rPr lang="en-US" altLang="en-US" sz="2400" dirty="0">
                <a:hlinkClick r:id="rId3"/>
              </a:rPr>
              <a:t>.</a:t>
            </a:r>
            <a:r>
              <a:rPr lang="en-US" altLang="en-US" sz="2400" dirty="0"/>
              <a:t> [Accessed 31 January 2025].</a:t>
            </a:r>
          </a:p>
          <a:p>
            <a:pPr eaLnBrk="1" hangingPunct="1">
              <a:spcAft>
                <a:spcPts val="625"/>
              </a:spcAft>
            </a:pPr>
            <a:r>
              <a:rPr lang="en-US" altLang="en-US" sz="2400" dirty="0"/>
              <a:t>[3]    N. Sutrich, "This is how much the Meta Quest 3 really costs to make," Android Central, 21 November 2023. [Online]. Available:</a:t>
            </a:r>
            <a:r>
              <a:rPr lang="en-US" altLang="en-US" sz="2400" dirty="0">
                <a:hlinkClick r:id="rId4"/>
              </a:rPr>
              <a:t> </a:t>
            </a:r>
            <a:r>
              <a:rPr lang="en-US" altLang="en-US" sz="2400" u="sng" dirty="0">
                <a:solidFill>
                  <a:srgbClr val="0563C1"/>
                </a:solidFill>
                <a:hlinkClick r:id="rId4"/>
              </a:rPr>
              <a:t>https://www.androidcentral.com/gaming/virtual-reality/meta-quest-3-manufacturing-cost?utm source=chatgpt.com</a:t>
            </a:r>
            <a:r>
              <a:rPr lang="en-US" altLang="en-US" sz="2400" dirty="0">
                <a:hlinkClick r:id="rId4"/>
              </a:rPr>
              <a:t>.</a:t>
            </a:r>
            <a:r>
              <a:rPr lang="en-US" altLang="en-US" sz="2400" dirty="0"/>
              <a:t> [Accessed 31 January 2025].</a:t>
            </a:r>
          </a:p>
          <a:p>
            <a:pPr eaLnBrk="1" hangingPunct="1"/>
            <a:r>
              <a:rPr lang="en-US" altLang="en-US" sz="2400" dirty="0"/>
              <a:t>[4]    C. d. Looper, "Meta Quest 3 review: The best VR headset... for now," BGR, 15 November 2023. [Online]. Available</a:t>
            </a:r>
            <a:r>
              <a:rPr lang="en-US" altLang="en-US" sz="2400" dirty="0">
                <a:hlinkClick r:id="rId5"/>
              </a:rPr>
              <a:t>: </a:t>
            </a:r>
            <a:r>
              <a:rPr lang="en-US" altLang="en-US" sz="2400" u="sng" dirty="0">
                <a:solidFill>
                  <a:srgbClr val="0563C1"/>
                </a:solidFill>
                <a:hlinkClick r:id="rId5"/>
              </a:rPr>
              <a:t>https://bgr.com/reviews/meta-quest-3-review/</a:t>
            </a:r>
            <a:r>
              <a:rPr lang="en-US" altLang="en-US" sz="2400" dirty="0">
                <a:hlinkClick r:id="rId5"/>
              </a:rPr>
              <a:t>.</a:t>
            </a:r>
            <a:r>
              <a:rPr lang="en-US" altLang="en-US" sz="2400" dirty="0"/>
              <a:t> [Accessed 31 January 2025].</a:t>
            </a:r>
          </a:p>
        </p:txBody>
      </p:sp>
    </p:spTree>
    <p:extLst>
      <p:ext uri="{BB962C8B-B14F-4D97-AF65-F5344CB8AC3E}">
        <p14:creationId xmlns:p14="http://schemas.microsoft.com/office/powerpoint/2010/main" val="1766534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732</Words>
  <Application>Microsoft Office PowerPoint</Application>
  <PresentationFormat>Widescreen</PresentationFormat>
  <Paragraphs>48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Vasukumar Patel</dc:creator>
  <cp:lastModifiedBy>Vasukumar Patel</cp:lastModifiedBy>
  <cp:revision>3</cp:revision>
  <dcterms:created xsi:type="dcterms:W3CDTF">2025-03-17T17:40:47Z</dcterms:created>
  <dcterms:modified xsi:type="dcterms:W3CDTF">2025-03-17T18:16:41Z</dcterms:modified>
</cp:coreProperties>
</file>